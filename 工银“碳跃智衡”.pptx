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351" r:id="rId3"/>
    <p:sldId id="352" r:id="rId4"/>
    <p:sldId id="353" r:id="rId5"/>
    <p:sldId id="362" r:id="rId6"/>
    <p:sldId id="374" r:id="rId7"/>
    <p:sldId id="376" r:id="rId8"/>
    <p:sldId id="378" r:id="rId9"/>
    <p:sldId id="354" r:id="rId10"/>
    <p:sldId id="387" r:id="rId11"/>
    <p:sldId id="379" r:id="rId12"/>
    <p:sldId id="381" r:id="rId13"/>
    <p:sldId id="389" r:id="rId14"/>
    <p:sldId id="401" r:id="rId15"/>
    <p:sldId id="391" r:id="rId16"/>
    <p:sldId id="403" r:id="rId17"/>
    <p:sldId id="383" r:id="rId18"/>
    <p:sldId id="405" r:id="rId19"/>
    <p:sldId id="385" r:id="rId20"/>
    <p:sldId id="407" r:id="rId21"/>
    <p:sldId id="356" r:id="rId22"/>
    <p:sldId id="392" r:id="rId23"/>
    <p:sldId id="409" r:id="rId24"/>
    <p:sldId id="358" r:id="rId25"/>
    <p:sldId id="411" r:id="rId26"/>
    <p:sldId id="413" r:id="rId27"/>
    <p:sldId id="416" r:id="rId28"/>
  </p:sldIdLst>
  <p:sldSz cx="12192000" cy="6858000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B8B2"/>
    <a:srgbClr val="8DD7D3"/>
    <a:srgbClr val="84E291"/>
    <a:srgbClr val="2FA8A2"/>
    <a:srgbClr val="E2AC00"/>
    <a:srgbClr val="36A09A"/>
    <a:srgbClr val="52C2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4EE147-623A-4299-A888-7890DE72CA01}" v="352" dt="2026-08-16T10:44:52.7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ags" Target="tags/tag1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BDDA0-0B36-42FA-A97B-88528EC207F4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69A38F-0286-451A-BC6D-18796D9339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2742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69A38F-0286-451A-BC6D-18796D93391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501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69A38F-0286-451A-BC6D-18796D93391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6200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69A38F-0286-451A-BC6D-18796D93391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8579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69A38F-0286-451A-BC6D-18796D93391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3895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80D6B2-7214-9A3C-8948-5A28D6BF18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59BBC8C-95BF-F01A-2507-685DF52D2A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05D2DD-E63C-B985-C5F0-FDFDCB883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0B47E-AE31-4E5B-B12A-9E4B2AAAA9D3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7D4AC5-86B5-17B6-FCAF-8E7918215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7A31BF-82DC-EAAB-D45A-71C6D6C5C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8FB1-BC4F-4795-9F74-24D99AE242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1329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93BCF2-F1F0-95EB-0DC9-48C339239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B5EC17-3919-8BE4-C733-661A6CD1A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9FE9FC-3380-BE40-DA7B-366BC70A1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0B47E-AE31-4E5B-B12A-9E4B2AAAA9D3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D6AA64-7577-634D-FC7F-0C7B4BF90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E3A066-D67E-68D0-92F7-B779D5749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8FB1-BC4F-4795-9F74-24D99AE242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6791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9DC70C-C79E-F650-533E-E8741051F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7731AE-0B01-0BCE-19D0-747884D4F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41D003-5B8E-45C6-57AE-93F1E48C0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0B47E-AE31-4E5B-B12A-9E4B2AAAA9D3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CD9C69-A0FA-08CB-0E04-7FD1D39CF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C88F69-46F4-770C-905F-A4B015CE5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8FB1-BC4F-4795-9F74-24D99AE242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0066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D132CA-283E-9B5F-489D-2A324C686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C3E54C-719B-C5F0-FBBD-04F756D762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EA8DB53-EC30-DF58-9C5C-5CC0170EDF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9E3D2E-3B36-C80A-0BBC-A0087653A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0B47E-AE31-4E5B-B12A-9E4B2AAAA9D3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52A225-A534-C72D-6EDE-45A0B3CCF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C0ECD7-376E-5463-C57A-DD0C835D3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8FB1-BC4F-4795-9F74-24D99AE242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9238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E14E46-00DA-614A-E58E-60D8202C9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5C24C7C-24C9-4E5D-B473-6D90117BD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E4BB7B-6771-E168-D711-B7CDBB3A62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CB19F99-BABF-1F24-D6AF-1A15F5F838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60D5B97-5F34-0D17-6B1C-95AB9B4086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104DFE2-6FA6-9C3D-3CF0-FEEEAE469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0B47E-AE31-4E5B-B12A-9E4B2AAAA9D3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140331E-957E-2CD1-85C7-BAFE9512A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646037D-D360-FA96-F1B9-FB3D32D8E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8FB1-BC4F-4795-9F74-24D99AE242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688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B2303-968F-3AFF-D91D-09464F8EF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AE75382-2587-7978-EC27-1DD23B98D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0B47E-AE31-4E5B-B12A-9E4B2AAAA9D3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9132C0B-5216-5C01-CFE5-7D13DB2B1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5626909-1261-7300-EBA2-C6BB5E6EF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8FB1-BC4F-4795-9F74-24D99AE242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840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66D3F16-C420-CEDA-1D5E-22182EA2A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0B47E-AE31-4E5B-B12A-9E4B2AAAA9D3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0F87839-69D4-B39A-0E7C-A8152F4C2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38E7DA-1428-4851-9792-70C5A05D2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8FB1-BC4F-4795-9F74-24D99AE242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8743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6A0EDB-2BB5-E5EC-75BE-48F7131C8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ED1144-731F-778C-E21B-1A9CD1129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01E49F2-A35B-B53C-5C14-05DE0E73CF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9117CB-E3ED-6A77-EA64-79595C16B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0B47E-AE31-4E5B-B12A-9E4B2AAAA9D3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EF91F9-55D4-C0C3-DFE3-03121B753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F0152C-E439-1B79-676C-97D388497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8FB1-BC4F-4795-9F74-24D99AE242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969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CEA4D3-700C-D63B-5DEB-C505B19E2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A54EDEB-B3B1-740F-5E0C-6DE62FA5EC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E6D3990-4EF8-E968-28A6-2C5D641A25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C01C34C-7D22-D550-E70C-A940A70EE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0B47E-AE31-4E5B-B12A-9E4B2AAAA9D3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C2A3FC-36DF-E62B-95DD-B14E4972B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58B8B28-BAE5-BB5C-B45C-40D089129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8FB1-BC4F-4795-9F74-24D99AE242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0275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17DD9C-F2FE-33B5-25EB-5187E283E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CA2CB8C-8A14-FDA4-4ADE-F21B9E93EA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3AD190-C96E-B743-0DD2-63CFDE583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0B47E-AE31-4E5B-B12A-9E4B2AAAA9D3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7221C6-8E77-457A-1EC7-D742417F8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5E1F11-42D0-A828-B420-E7F0BD241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8FB1-BC4F-4795-9F74-24D99AE242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3682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EBF1F65-F818-A581-5670-E1506981EE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F3D3D5C-A951-48C5-9BB2-32A25E2F2D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EB9BA1-4F6D-282C-6E5A-38E9FE04D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0B47E-AE31-4E5B-B12A-9E4B2AAAA9D3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D60796-62E5-9B1E-659E-28E5C165A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D9CBA1-C41C-5CDD-D2EC-8733088FB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8FB1-BC4F-4795-9F74-24D99AE242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0878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B25AE0D-A5AE-DD16-A3BC-6FDCED018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87F21-D885-4CC5-A1A6-67F97411599F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0D64EAF-E38B-3241-13E2-25771EEED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4A951B-B820-1A11-356A-82AFDC06C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588B6-B521-4CC5-96C5-07433404A0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920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-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0354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0021ED5-C5D5-A070-870B-638E9A142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019CD4-C9EE-063B-EA7D-EAE2EBEA8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E7FFFC-28CC-C6DA-7CE2-31E0DACC12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50B47E-AE31-4E5B-B12A-9E4B2AAAA9D3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340B41-8B8B-B41D-2ECB-0433D175D0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FB6E9A-3716-B5F9-2DAE-EE01543A9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FD8FB1-BC4F-4795-9F74-24D99AE242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3987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tags" Target="../tags/tag4.xml"/><Relationship Id="rId7" Type="http://schemas.openxmlformats.org/officeDocument/2006/relationships/image" Target="../media/image7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.jpg"/><Relationship Id="rId5" Type="http://schemas.openxmlformats.org/officeDocument/2006/relationships/notesSlide" Target="../notesSlides/notesSlide1.xml"/><Relationship Id="rId10" Type="http://schemas.openxmlformats.org/officeDocument/2006/relationships/image" Target="../media/image10.svg"/><Relationship Id="rId4" Type="http://schemas.openxmlformats.org/officeDocument/2006/relationships/slideLayout" Target="../slideLayouts/slideLayout13.xml"/><Relationship Id="rId9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10" Type="http://schemas.openxmlformats.org/officeDocument/2006/relationships/image" Target="../media/image3.jpg"/><Relationship Id="rId4" Type="http://schemas.openxmlformats.org/officeDocument/2006/relationships/tags" Target="../tags/tag9.xml"/><Relationship Id="rId9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10" Type="http://schemas.openxmlformats.org/officeDocument/2006/relationships/image" Target="../media/image3.jpg"/><Relationship Id="rId4" Type="http://schemas.openxmlformats.org/officeDocument/2006/relationships/tags" Target="../tags/tag17.xml"/><Relationship Id="rId9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373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7BCAF657-D745-69AC-179A-5E0083E34987}"/>
              </a:ext>
            </a:extLst>
          </p:cNvPr>
          <p:cNvSpPr>
            <a:spLocks/>
          </p:cNvSpPr>
          <p:nvPr/>
        </p:nvSpPr>
        <p:spPr bwMode="auto">
          <a:xfrm>
            <a:off x="1" y="1339"/>
            <a:ext cx="4258983" cy="6856661"/>
          </a:xfrm>
          <a:custGeom>
            <a:avLst/>
            <a:gdLst>
              <a:gd name="connsiteX0" fmla="*/ 0 w 4258983"/>
              <a:gd name="connsiteY0" fmla="*/ 0 h 6856661"/>
              <a:gd name="connsiteX1" fmla="*/ 3310023 w 4258983"/>
              <a:gd name="connsiteY1" fmla="*/ 0 h 6856661"/>
              <a:gd name="connsiteX2" fmla="*/ 4258983 w 4258983"/>
              <a:gd name="connsiteY2" fmla="*/ 6856661 h 6856661"/>
              <a:gd name="connsiteX3" fmla="*/ 0 w 4258983"/>
              <a:gd name="connsiteY3" fmla="*/ 6856661 h 6856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58983" h="6856661">
                <a:moveTo>
                  <a:pt x="0" y="0"/>
                </a:moveTo>
                <a:lnTo>
                  <a:pt x="3310023" y="0"/>
                </a:lnTo>
                <a:lnTo>
                  <a:pt x="4258983" y="6856661"/>
                </a:lnTo>
                <a:lnTo>
                  <a:pt x="0" y="6856661"/>
                </a:lnTo>
                <a:close/>
              </a:path>
            </a:pathLst>
          </a:custGeom>
          <a:gradFill>
            <a:gsLst>
              <a:gs pos="23000">
                <a:srgbClr val="52C2BC">
                  <a:alpha val="50000"/>
                </a:srgbClr>
              </a:gs>
              <a:gs pos="56000">
                <a:srgbClr val="2FA8A2"/>
              </a:gs>
            </a:gsLst>
            <a:lin ang="8100000" scaled="1"/>
          </a:gra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52" tIns="288038" rIns="91452" bIns="45726" numCol="1" anchor="t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A1A715C-7184-E04D-1CAB-11B116332C7F}"/>
              </a:ext>
            </a:extLst>
          </p:cNvPr>
          <p:cNvSpPr txBox="1"/>
          <p:nvPr/>
        </p:nvSpPr>
        <p:spPr>
          <a:xfrm>
            <a:off x="295587" y="2164418"/>
            <a:ext cx="2374946" cy="1354185"/>
          </a:xfrm>
          <a:prstGeom prst="rect">
            <a:avLst/>
          </a:prstGeom>
          <a:noFill/>
        </p:spPr>
        <p:txBody>
          <a:bodyPr wrap="none" lIns="121888" tIns="60944" rIns="121888" bIns="60944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3284F9">
                      <a:lumMod val="50000"/>
                      <a:alpha val="12000"/>
                    </a:srgbClr>
                  </a:outerShdw>
                </a:effectLst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043FFE5-6E71-E57C-46AD-DEB8CEEED822}"/>
              </a:ext>
            </a:extLst>
          </p:cNvPr>
          <p:cNvSpPr txBox="1"/>
          <p:nvPr/>
        </p:nvSpPr>
        <p:spPr>
          <a:xfrm>
            <a:off x="295587" y="3693624"/>
            <a:ext cx="3085075" cy="677076"/>
          </a:xfrm>
          <a:prstGeom prst="rect">
            <a:avLst/>
          </a:prstGeom>
          <a:noFill/>
        </p:spPr>
        <p:txBody>
          <a:bodyPr wrap="none" lIns="121888" tIns="60944" rIns="121888" bIns="60944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1200" cap="none" spc="600" normalizeH="0" baseline="0" noProof="0">
                <a:ln>
                  <a:noFill/>
                </a:ln>
                <a:solidFill>
                  <a:srgbClr val="FFFFFF">
                    <a:alpha val="34000"/>
                  </a:srgbClr>
                </a:solidFill>
                <a:effectLst>
                  <a:outerShdw blurRad="38100" dist="38100" dir="2700000" algn="tl">
                    <a:srgbClr val="3284F9">
                      <a:lumMod val="50000"/>
                      <a:alpha val="12000"/>
                    </a:srgbClr>
                  </a:outerShdw>
                </a:effectLst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n-ea"/>
                <a:sym typeface="+mn-lt"/>
              </a:rPr>
              <a:t>CONTENTS</a:t>
            </a:r>
            <a:endParaRPr kumimoji="0" lang="zh-CN" altLang="en-US" sz="3600" b="0" i="0" u="none" strike="noStrike" kern="1200" cap="none" spc="600" normalizeH="0" baseline="0" noProof="0">
              <a:ln>
                <a:noFill/>
              </a:ln>
              <a:solidFill>
                <a:srgbClr val="FFFFFF">
                  <a:alpha val="34000"/>
                </a:srgbClr>
              </a:solidFill>
              <a:effectLst>
                <a:outerShdw blurRad="38100" dist="38100" dir="2700000" algn="tl">
                  <a:srgbClr val="3284F9">
                    <a:lumMod val="50000"/>
                    <a:alpha val="12000"/>
                  </a:srgbClr>
                </a:outerShdw>
              </a:effectLst>
              <a:uLnTx/>
              <a:uFillTx/>
              <a:latin typeface="等线 Light" panose="02010600030101010101" pitchFamily="2" charset="-122"/>
              <a:ea typeface="等线 Light" panose="02010600030101010101" pitchFamily="2" charset="-122"/>
              <a:cs typeface="+mn-ea"/>
              <a:sym typeface="+mn-lt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44F4A6C-4FB0-2E98-CCAF-586C714A8AD2}"/>
              </a:ext>
            </a:extLst>
          </p:cNvPr>
          <p:cNvGrpSpPr/>
          <p:nvPr/>
        </p:nvGrpSpPr>
        <p:grpSpPr>
          <a:xfrm>
            <a:off x="5298233" y="1319843"/>
            <a:ext cx="5740555" cy="790267"/>
            <a:chOff x="5298233" y="1111286"/>
            <a:chExt cx="5740555" cy="790267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295D26C7-5E9F-4E9F-6E09-2A354B12B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1682" y="1111286"/>
              <a:ext cx="891827" cy="112668"/>
            </a:xfrm>
            <a:custGeom>
              <a:avLst/>
              <a:gdLst>
                <a:gd name="T0" fmla="*/ 85667 w 1156"/>
                <a:gd name="T1" fmla="*/ 0 h 142"/>
                <a:gd name="T2" fmla="*/ 806508 w 1156"/>
                <a:gd name="T3" fmla="*/ 0 h 142"/>
                <a:gd name="T4" fmla="*/ 892175 w 1156"/>
                <a:gd name="T5" fmla="*/ 112712 h 142"/>
                <a:gd name="T6" fmla="*/ 0 w 1156"/>
                <a:gd name="T7" fmla="*/ 112712 h 142"/>
                <a:gd name="T8" fmla="*/ 85667 w 1156"/>
                <a:gd name="T9" fmla="*/ 0 h 1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56" h="142">
                  <a:moveTo>
                    <a:pt x="111" y="0"/>
                  </a:moveTo>
                  <a:lnTo>
                    <a:pt x="1045" y="0"/>
                  </a:lnTo>
                  <a:lnTo>
                    <a:pt x="1156" y="142"/>
                  </a:lnTo>
                  <a:lnTo>
                    <a:pt x="0" y="142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6F08B128-9299-B47F-1855-2DFD3C988D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8233" y="1200152"/>
              <a:ext cx="5740555" cy="701401"/>
            </a:xfrm>
            <a:custGeom>
              <a:avLst/>
              <a:gdLst>
                <a:gd name="T0" fmla="*/ 74828 w 8676"/>
                <a:gd name="T1" fmla="*/ 0 h 884"/>
                <a:gd name="T2" fmla="*/ 6537843 w 8676"/>
                <a:gd name="T3" fmla="*/ 0 h 884"/>
                <a:gd name="T4" fmla="*/ 6692900 w 8676"/>
                <a:gd name="T5" fmla="*/ 160338 h 884"/>
                <a:gd name="T6" fmla="*/ 6692900 w 8676"/>
                <a:gd name="T7" fmla="*/ 625475 h 884"/>
                <a:gd name="T8" fmla="*/ 6618072 w 8676"/>
                <a:gd name="T9" fmla="*/ 701675 h 884"/>
                <a:gd name="T10" fmla="*/ 74828 w 8676"/>
                <a:gd name="T11" fmla="*/ 701675 h 884"/>
                <a:gd name="T12" fmla="*/ 0 w 8676"/>
                <a:gd name="T13" fmla="*/ 625475 h 884"/>
                <a:gd name="T14" fmla="*/ 0 w 8676"/>
                <a:gd name="T15" fmla="*/ 76200 h 884"/>
                <a:gd name="T16" fmla="*/ 74828 w 8676"/>
                <a:gd name="T17" fmla="*/ 0 h 8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676" h="884">
                  <a:moveTo>
                    <a:pt x="97" y="0"/>
                  </a:moveTo>
                  <a:lnTo>
                    <a:pt x="8475" y="0"/>
                  </a:lnTo>
                  <a:lnTo>
                    <a:pt x="8676" y="202"/>
                  </a:lnTo>
                  <a:lnTo>
                    <a:pt x="8676" y="788"/>
                  </a:lnTo>
                  <a:cubicBezTo>
                    <a:pt x="8676" y="841"/>
                    <a:pt x="8632" y="884"/>
                    <a:pt x="8579" y="884"/>
                  </a:cubicBezTo>
                  <a:lnTo>
                    <a:pt x="97" y="884"/>
                  </a:lnTo>
                  <a:cubicBezTo>
                    <a:pt x="44" y="884"/>
                    <a:pt x="0" y="841"/>
                    <a:pt x="0" y="788"/>
                  </a:cubicBezTo>
                  <a:lnTo>
                    <a:pt x="0" y="96"/>
                  </a:lnTo>
                  <a:cubicBezTo>
                    <a:pt x="0" y="43"/>
                    <a:pt x="44" y="0"/>
                    <a:pt x="97" y="0"/>
                  </a:cubicBezTo>
                  <a:close/>
                </a:path>
              </a:pathLst>
            </a:custGeom>
            <a:solidFill>
              <a:srgbClr val="FFFFFF"/>
            </a:solidFill>
            <a:ln w="6350" cap="flat" cmpd="sng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0F5972B-B6A9-3CAB-140E-897AB63842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7373" y="1111286"/>
              <a:ext cx="720444" cy="737899"/>
            </a:xfrm>
            <a:prstGeom prst="rect">
              <a:avLst/>
            </a:prstGeom>
            <a:solidFill>
              <a:srgbClr val="52C2BC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21BEB32-8C89-477C-24AA-50268DC0DE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2015" y="1273941"/>
              <a:ext cx="1826141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3200" b="1">
                  <a:solidFill>
                    <a:schemeClr val="accent1"/>
                  </a:solidFill>
                  <a:latin typeface="等线 Light" panose="02010600030101010101" pitchFamily="2" charset="-122"/>
                  <a:ea typeface="等线 Light" panose="02010600030101010101" pitchFamily="2" charset="-122"/>
                  <a:cs typeface="+mn-ea"/>
                  <a:sym typeface="+mn-lt"/>
                </a:rPr>
                <a:t>项目背景</a:t>
              </a: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n-ea"/>
                <a:sym typeface="+mn-lt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AE1992C-F5E0-F41C-6D77-E3A420D67F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1436" y="1154132"/>
              <a:ext cx="447558" cy="7075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998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 Light" panose="02010600030101010101" pitchFamily="2" charset="-122"/>
                  <a:ea typeface="等线 Light" panose="02010600030101010101" pitchFamily="2" charset="-122"/>
                  <a:cs typeface="+mn-ea"/>
                  <a:sym typeface="+mn-lt"/>
                </a:rPr>
                <a:t>1</a:t>
              </a:r>
              <a:endParaRPr kumimoji="0" lang="zh-CN" altLang="en-US" sz="3998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n-ea"/>
                <a:sym typeface="+mn-lt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88C5834-D413-0A7B-CD69-BDC8DC3AFE2B}"/>
              </a:ext>
            </a:extLst>
          </p:cNvPr>
          <p:cNvGrpSpPr/>
          <p:nvPr/>
        </p:nvGrpSpPr>
        <p:grpSpPr>
          <a:xfrm>
            <a:off x="5298233" y="2523359"/>
            <a:ext cx="5740555" cy="790267"/>
            <a:chOff x="5298233" y="1111286"/>
            <a:chExt cx="5740555" cy="790267"/>
          </a:xfrm>
        </p:grpSpPr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2302E8D1-A596-0543-795C-DF09E3C005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1682" y="1111286"/>
              <a:ext cx="891827" cy="112668"/>
            </a:xfrm>
            <a:custGeom>
              <a:avLst/>
              <a:gdLst>
                <a:gd name="T0" fmla="*/ 85667 w 1156"/>
                <a:gd name="T1" fmla="*/ 0 h 142"/>
                <a:gd name="T2" fmla="*/ 806508 w 1156"/>
                <a:gd name="T3" fmla="*/ 0 h 142"/>
                <a:gd name="T4" fmla="*/ 892175 w 1156"/>
                <a:gd name="T5" fmla="*/ 112712 h 142"/>
                <a:gd name="T6" fmla="*/ 0 w 1156"/>
                <a:gd name="T7" fmla="*/ 112712 h 142"/>
                <a:gd name="T8" fmla="*/ 85667 w 1156"/>
                <a:gd name="T9" fmla="*/ 0 h 1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56" h="142">
                  <a:moveTo>
                    <a:pt x="111" y="0"/>
                  </a:moveTo>
                  <a:lnTo>
                    <a:pt x="1045" y="0"/>
                  </a:lnTo>
                  <a:lnTo>
                    <a:pt x="1156" y="142"/>
                  </a:lnTo>
                  <a:lnTo>
                    <a:pt x="0" y="142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F57C946B-D32A-E80F-1165-25AA680CF7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8233" y="1200152"/>
              <a:ext cx="5740555" cy="701401"/>
            </a:xfrm>
            <a:custGeom>
              <a:avLst/>
              <a:gdLst>
                <a:gd name="T0" fmla="*/ 74828 w 8676"/>
                <a:gd name="T1" fmla="*/ 0 h 884"/>
                <a:gd name="T2" fmla="*/ 6537843 w 8676"/>
                <a:gd name="T3" fmla="*/ 0 h 884"/>
                <a:gd name="T4" fmla="*/ 6692900 w 8676"/>
                <a:gd name="T5" fmla="*/ 160338 h 884"/>
                <a:gd name="T6" fmla="*/ 6692900 w 8676"/>
                <a:gd name="T7" fmla="*/ 625475 h 884"/>
                <a:gd name="T8" fmla="*/ 6618072 w 8676"/>
                <a:gd name="T9" fmla="*/ 701675 h 884"/>
                <a:gd name="T10" fmla="*/ 74828 w 8676"/>
                <a:gd name="T11" fmla="*/ 701675 h 884"/>
                <a:gd name="T12" fmla="*/ 0 w 8676"/>
                <a:gd name="T13" fmla="*/ 625475 h 884"/>
                <a:gd name="T14" fmla="*/ 0 w 8676"/>
                <a:gd name="T15" fmla="*/ 76200 h 884"/>
                <a:gd name="T16" fmla="*/ 74828 w 8676"/>
                <a:gd name="T17" fmla="*/ 0 h 8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676" h="884">
                  <a:moveTo>
                    <a:pt x="97" y="0"/>
                  </a:moveTo>
                  <a:lnTo>
                    <a:pt x="8475" y="0"/>
                  </a:lnTo>
                  <a:lnTo>
                    <a:pt x="8676" y="202"/>
                  </a:lnTo>
                  <a:lnTo>
                    <a:pt x="8676" y="788"/>
                  </a:lnTo>
                  <a:cubicBezTo>
                    <a:pt x="8676" y="841"/>
                    <a:pt x="8632" y="884"/>
                    <a:pt x="8579" y="884"/>
                  </a:cubicBezTo>
                  <a:lnTo>
                    <a:pt x="97" y="884"/>
                  </a:lnTo>
                  <a:cubicBezTo>
                    <a:pt x="44" y="884"/>
                    <a:pt x="0" y="841"/>
                    <a:pt x="0" y="788"/>
                  </a:cubicBezTo>
                  <a:lnTo>
                    <a:pt x="0" y="96"/>
                  </a:lnTo>
                  <a:cubicBezTo>
                    <a:pt x="0" y="43"/>
                    <a:pt x="44" y="0"/>
                    <a:pt x="97" y="0"/>
                  </a:cubicBezTo>
                  <a:close/>
                </a:path>
              </a:pathLst>
            </a:custGeom>
            <a:solidFill>
              <a:srgbClr val="FFFFFF"/>
            </a:solidFill>
            <a:ln w="6350" cap="flat" cmpd="sng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EF3C8303-5977-C315-E3AF-54A5FC790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7373" y="1111286"/>
              <a:ext cx="720444" cy="737899"/>
            </a:xfrm>
            <a:prstGeom prst="rect">
              <a:avLst/>
            </a:prstGeom>
            <a:solidFill>
              <a:srgbClr val="52C2BC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69669999-FADB-5E04-9955-4F4CA5536C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2015" y="1273941"/>
              <a:ext cx="1826141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3200" b="1">
                  <a:solidFill>
                    <a:schemeClr val="accent1"/>
                  </a:solidFill>
                  <a:latin typeface="等线 Light" panose="02010600030101010101" pitchFamily="2" charset="-122"/>
                  <a:ea typeface="等线 Light" panose="02010600030101010101" pitchFamily="2" charset="-122"/>
                  <a:cs typeface="+mn-ea"/>
                  <a:sym typeface="+mn-lt"/>
                </a:rPr>
                <a:t>产品介绍</a:t>
              </a: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n-ea"/>
                <a:sym typeface="+mn-lt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EB48FCDE-2BB3-1A56-29CC-5376419527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0634" y="1154132"/>
              <a:ext cx="449162" cy="7075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998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 Light" panose="02010600030101010101" pitchFamily="2" charset="-122"/>
                  <a:ea typeface="等线 Light" panose="02010600030101010101" pitchFamily="2" charset="-122"/>
                  <a:cs typeface="+mn-ea"/>
                  <a:sym typeface="+mn-lt"/>
                </a:rPr>
                <a:t>2</a:t>
              </a:r>
              <a:endParaRPr kumimoji="0" lang="zh-CN" altLang="en-US" sz="3998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n-ea"/>
                <a:sym typeface="+mn-lt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A481A71-68C5-F366-43AD-7D5450C9311D}"/>
              </a:ext>
            </a:extLst>
          </p:cNvPr>
          <p:cNvGrpSpPr/>
          <p:nvPr/>
        </p:nvGrpSpPr>
        <p:grpSpPr>
          <a:xfrm>
            <a:off x="5298233" y="3726875"/>
            <a:ext cx="5912135" cy="790267"/>
            <a:chOff x="5298233" y="1111286"/>
            <a:chExt cx="5912135" cy="790267"/>
          </a:xfrm>
        </p:grpSpPr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DC0E31A1-B71E-62FF-F991-1F350365C8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1682" y="1111286"/>
              <a:ext cx="891827" cy="112668"/>
            </a:xfrm>
            <a:custGeom>
              <a:avLst/>
              <a:gdLst>
                <a:gd name="T0" fmla="*/ 85667 w 1156"/>
                <a:gd name="T1" fmla="*/ 0 h 142"/>
                <a:gd name="T2" fmla="*/ 806508 w 1156"/>
                <a:gd name="T3" fmla="*/ 0 h 142"/>
                <a:gd name="T4" fmla="*/ 892175 w 1156"/>
                <a:gd name="T5" fmla="*/ 112712 h 142"/>
                <a:gd name="T6" fmla="*/ 0 w 1156"/>
                <a:gd name="T7" fmla="*/ 112712 h 142"/>
                <a:gd name="T8" fmla="*/ 85667 w 1156"/>
                <a:gd name="T9" fmla="*/ 0 h 1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56" h="142">
                  <a:moveTo>
                    <a:pt x="111" y="0"/>
                  </a:moveTo>
                  <a:lnTo>
                    <a:pt x="1045" y="0"/>
                  </a:lnTo>
                  <a:lnTo>
                    <a:pt x="1156" y="142"/>
                  </a:lnTo>
                  <a:lnTo>
                    <a:pt x="0" y="142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ED6B0380-51D5-6FF2-A48E-789AEB7EECD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8233" y="1200152"/>
              <a:ext cx="5740555" cy="701401"/>
            </a:xfrm>
            <a:custGeom>
              <a:avLst/>
              <a:gdLst>
                <a:gd name="T0" fmla="*/ 74828 w 8676"/>
                <a:gd name="T1" fmla="*/ 0 h 884"/>
                <a:gd name="T2" fmla="*/ 6537843 w 8676"/>
                <a:gd name="T3" fmla="*/ 0 h 884"/>
                <a:gd name="T4" fmla="*/ 6692900 w 8676"/>
                <a:gd name="T5" fmla="*/ 160338 h 884"/>
                <a:gd name="T6" fmla="*/ 6692900 w 8676"/>
                <a:gd name="T7" fmla="*/ 625475 h 884"/>
                <a:gd name="T8" fmla="*/ 6618072 w 8676"/>
                <a:gd name="T9" fmla="*/ 701675 h 884"/>
                <a:gd name="T10" fmla="*/ 74828 w 8676"/>
                <a:gd name="T11" fmla="*/ 701675 h 884"/>
                <a:gd name="T12" fmla="*/ 0 w 8676"/>
                <a:gd name="T13" fmla="*/ 625475 h 884"/>
                <a:gd name="T14" fmla="*/ 0 w 8676"/>
                <a:gd name="T15" fmla="*/ 76200 h 884"/>
                <a:gd name="T16" fmla="*/ 74828 w 8676"/>
                <a:gd name="T17" fmla="*/ 0 h 8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676" h="884">
                  <a:moveTo>
                    <a:pt x="97" y="0"/>
                  </a:moveTo>
                  <a:lnTo>
                    <a:pt x="8475" y="0"/>
                  </a:lnTo>
                  <a:lnTo>
                    <a:pt x="8676" y="202"/>
                  </a:lnTo>
                  <a:lnTo>
                    <a:pt x="8676" y="788"/>
                  </a:lnTo>
                  <a:cubicBezTo>
                    <a:pt x="8676" y="841"/>
                    <a:pt x="8632" y="884"/>
                    <a:pt x="8579" y="884"/>
                  </a:cubicBezTo>
                  <a:lnTo>
                    <a:pt x="97" y="884"/>
                  </a:lnTo>
                  <a:cubicBezTo>
                    <a:pt x="44" y="884"/>
                    <a:pt x="0" y="841"/>
                    <a:pt x="0" y="788"/>
                  </a:cubicBezTo>
                  <a:lnTo>
                    <a:pt x="0" y="96"/>
                  </a:lnTo>
                  <a:cubicBezTo>
                    <a:pt x="0" y="43"/>
                    <a:pt x="44" y="0"/>
                    <a:pt x="97" y="0"/>
                  </a:cubicBezTo>
                  <a:close/>
                </a:path>
              </a:pathLst>
            </a:custGeom>
            <a:solidFill>
              <a:srgbClr val="FFFFFF"/>
            </a:solidFill>
            <a:ln w="6350" cap="flat" cmpd="sng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F346585E-8E1F-5736-A347-E68F41622E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7373" y="1111286"/>
              <a:ext cx="720444" cy="737899"/>
            </a:xfrm>
            <a:prstGeom prst="rect">
              <a:avLst/>
            </a:prstGeom>
            <a:solidFill>
              <a:srgbClr val="52C2BC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B726A083-D3F7-410D-7245-F558A3FE7D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2015" y="1273941"/>
              <a:ext cx="4288353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等线 Light" panose="02010600030101010101" pitchFamily="2" charset="-122"/>
                  <a:ea typeface="等线 Light" panose="02010600030101010101" pitchFamily="2" charset="-122"/>
                  <a:cs typeface="+mn-ea"/>
                  <a:sym typeface="+mn-lt"/>
                </a:rPr>
                <a:t>竞争优势与可行性分析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121B15E5-CFC0-2AB4-0909-135B8A7C7B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0635" y="1154132"/>
              <a:ext cx="449161" cy="7075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998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 Light" panose="02010600030101010101" pitchFamily="2" charset="-122"/>
                  <a:ea typeface="等线 Light" panose="02010600030101010101" pitchFamily="2" charset="-122"/>
                  <a:cs typeface="+mn-ea"/>
                  <a:sym typeface="+mn-lt"/>
                </a:rPr>
                <a:t>3</a:t>
              </a:r>
              <a:endParaRPr kumimoji="0" lang="zh-CN" altLang="en-US" sz="3998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n-ea"/>
                <a:sym typeface="+mn-lt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E33C2BFD-8FED-ED7D-E3A9-015FDEDCACF2}"/>
              </a:ext>
            </a:extLst>
          </p:cNvPr>
          <p:cNvGrpSpPr/>
          <p:nvPr/>
        </p:nvGrpSpPr>
        <p:grpSpPr>
          <a:xfrm>
            <a:off x="5298233" y="4930390"/>
            <a:ext cx="5740555" cy="790267"/>
            <a:chOff x="5298233" y="1111286"/>
            <a:chExt cx="5740555" cy="790267"/>
          </a:xfrm>
        </p:grpSpPr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3F4DA56B-B00C-3896-6CEE-C60FE8AF91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1682" y="1111286"/>
              <a:ext cx="891827" cy="112668"/>
            </a:xfrm>
            <a:custGeom>
              <a:avLst/>
              <a:gdLst>
                <a:gd name="T0" fmla="*/ 85667 w 1156"/>
                <a:gd name="T1" fmla="*/ 0 h 142"/>
                <a:gd name="T2" fmla="*/ 806508 w 1156"/>
                <a:gd name="T3" fmla="*/ 0 h 142"/>
                <a:gd name="T4" fmla="*/ 892175 w 1156"/>
                <a:gd name="T5" fmla="*/ 112712 h 142"/>
                <a:gd name="T6" fmla="*/ 0 w 1156"/>
                <a:gd name="T7" fmla="*/ 112712 h 142"/>
                <a:gd name="T8" fmla="*/ 85667 w 1156"/>
                <a:gd name="T9" fmla="*/ 0 h 1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56" h="142">
                  <a:moveTo>
                    <a:pt x="111" y="0"/>
                  </a:moveTo>
                  <a:lnTo>
                    <a:pt x="1045" y="0"/>
                  </a:lnTo>
                  <a:lnTo>
                    <a:pt x="1156" y="142"/>
                  </a:lnTo>
                  <a:lnTo>
                    <a:pt x="0" y="142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AE51D025-883B-D871-F8FC-FEC6B91F3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8233" y="1200152"/>
              <a:ext cx="5740555" cy="701401"/>
            </a:xfrm>
            <a:custGeom>
              <a:avLst/>
              <a:gdLst>
                <a:gd name="T0" fmla="*/ 74828 w 8676"/>
                <a:gd name="T1" fmla="*/ 0 h 884"/>
                <a:gd name="T2" fmla="*/ 6537843 w 8676"/>
                <a:gd name="T3" fmla="*/ 0 h 884"/>
                <a:gd name="T4" fmla="*/ 6692900 w 8676"/>
                <a:gd name="T5" fmla="*/ 160338 h 884"/>
                <a:gd name="T6" fmla="*/ 6692900 w 8676"/>
                <a:gd name="T7" fmla="*/ 625475 h 884"/>
                <a:gd name="T8" fmla="*/ 6618072 w 8676"/>
                <a:gd name="T9" fmla="*/ 701675 h 884"/>
                <a:gd name="T10" fmla="*/ 74828 w 8676"/>
                <a:gd name="T11" fmla="*/ 701675 h 884"/>
                <a:gd name="T12" fmla="*/ 0 w 8676"/>
                <a:gd name="T13" fmla="*/ 625475 h 884"/>
                <a:gd name="T14" fmla="*/ 0 w 8676"/>
                <a:gd name="T15" fmla="*/ 76200 h 884"/>
                <a:gd name="T16" fmla="*/ 74828 w 8676"/>
                <a:gd name="T17" fmla="*/ 0 h 8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676" h="884">
                  <a:moveTo>
                    <a:pt x="97" y="0"/>
                  </a:moveTo>
                  <a:lnTo>
                    <a:pt x="8475" y="0"/>
                  </a:lnTo>
                  <a:lnTo>
                    <a:pt x="8676" y="202"/>
                  </a:lnTo>
                  <a:lnTo>
                    <a:pt x="8676" y="788"/>
                  </a:lnTo>
                  <a:cubicBezTo>
                    <a:pt x="8676" y="841"/>
                    <a:pt x="8632" y="884"/>
                    <a:pt x="8579" y="884"/>
                  </a:cubicBezTo>
                  <a:lnTo>
                    <a:pt x="97" y="884"/>
                  </a:lnTo>
                  <a:cubicBezTo>
                    <a:pt x="44" y="884"/>
                    <a:pt x="0" y="841"/>
                    <a:pt x="0" y="788"/>
                  </a:cubicBezTo>
                  <a:lnTo>
                    <a:pt x="0" y="96"/>
                  </a:lnTo>
                  <a:cubicBezTo>
                    <a:pt x="0" y="43"/>
                    <a:pt x="44" y="0"/>
                    <a:pt x="97" y="0"/>
                  </a:cubicBezTo>
                  <a:close/>
                </a:path>
              </a:pathLst>
            </a:custGeom>
            <a:solidFill>
              <a:srgbClr val="FFFFFF"/>
            </a:solidFill>
            <a:ln w="6350" cap="flat" cmpd="sng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2C9EC619-DFD5-4499-1CEF-54522313AB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7373" y="1111286"/>
              <a:ext cx="720444" cy="737899"/>
            </a:xfrm>
            <a:prstGeom prst="rect">
              <a:avLst/>
            </a:prstGeom>
            <a:solidFill>
              <a:srgbClr val="52C2BC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FA53A2EB-EAC6-77CA-63E7-A1F9CE2B36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2015" y="1273941"/>
              <a:ext cx="3877985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3200" b="1">
                  <a:solidFill>
                    <a:schemeClr val="accent1"/>
                  </a:solidFill>
                  <a:latin typeface="等线 Light" panose="02010600030101010101" pitchFamily="2" charset="-122"/>
                  <a:ea typeface="等线 Light" panose="02010600030101010101" pitchFamily="2" charset="-122"/>
                  <a:cs typeface="+mn-ea"/>
                  <a:sym typeface="+mn-lt"/>
                </a:rPr>
                <a:t>效益分析与推广预期</a:t>
              </a: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n-ea"/>
                <a:sym typeface="+mn-lt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881D71EE-7DE8-B6B0-C0F7-79228E693D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0634" y="1154132"/>
              <a:ext cx="449162" cy="7075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998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 Light" panose="02010600030101010101" pitchFamily="2" charset="-122"/>
                  <a:ea typeface="等线 Light" panose="02010600030101010101" pitchFamily="2" charset="-122"/>
                  <a:cs typeface="+mn-ea"/>
                  <a:sym typeface="+mn-lt"/>
                </a:rPr>
                <a:t>4</a:t>
              </a:r>
              <a:endParaRPr kumimoji="0" lang="zh-CN" altLang="en-US" sz="3998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8458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7BAE1C5A-695B-E971-8E3F-AD1724CE1F93}"/>
              </a:ext>
            </a:extLst>
          </p:cNvPr>
          <p:cNvSpPr txBox="1"/>
          <p:nvPr/>
        </p:nvSpPr>
        <p:spPr>
          <a:xfrm>
            <a:off x="3563257" y="2475936"/>
            <a:ext cx="506548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/>
              <a:t> </a:t>
            </a:r>
            <a:r>
              <a:rPr lang="zh-CN" altLang="en-US" sz="8000" b="1">
                <a:solidFill>
                  <a:schemeClr val="accent4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项目背景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CA3BF41-E4F8-0061-9D3F-48A2831FF245}"/>
              </a:ext>
            </a:extLst>
          </p:cNvPr>
          <p:cNvSpPr txBox="1"/>
          <p:nvPr/>
        </p:nvSpPr>
        <p:spPr>
          <a:xfrm>
            <a:off x="4274456" y="1644939"/>
            <a:ext cx="39624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>
                <a:solidFill>
                  <a:schemeClr val="accent4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PART ONE</a:t>
            </a:r>
            <a:endParaRPr lang="zh-CN" altLang="en-US" sz="4800" b="1">
              <a:solidFill>
                <a:schemeClr val="accent4">
                  <a:lumMod val="50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077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408F95C-2AED-AD52-3B0F-A2331CF461E2}"/>
              </a:ext>
            </a:extLst>
          </p:cNvPr>
          <p:cNvSpPr/>
          <p:nvPr/>
        </p:nvSpPr>
        <p:spPr>
          <a:xfrm>
            <a:off x="0" y="0"/>
            <a:ext cx="12192000" cy="925286"/>
          </a:xfrm>
          <a:prstGeom prst="rect">
            <a:avLst/>
          </a:prstGeom>
          <a:gradFill>
            <a:gsLst>
              <a:gs pos="32000">
                <a:srgbClr val="52C2BC">
                  <a:alpha val="50000"/>
                </a:srgbClr>
              </a:gs>
              <a:gs pos="72000">
                <a:srgbClr val="40B8B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00C659CA-6B8A-85A7-5AA2-DB5ADDF10E5A}"/>
              </a:ext>
            </a:extLst>
          </p:cNvPr>
          <p:cNvSpPr/>
          <p:nvPr/>
        </p:nvSpPr>
        <p:spPr>
          <a:xfrm>
            <a:off x="3182814" y="523301"/>
            <a:ext cx="2027103" cy="539826"/>
          </a:xfrm>
          <a:prstGeom prst="parallelogram">
            <a:avLst/>
          </a:prstGeom>
          <a:solidFill>
            <a:schemeClr val="bg1"/>
          </a:solidFill>
          <a:ln>
            <a:solidFill>
              <a:srgbClr val="36A0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D40C998D-7998-EC50-A769-98AD8325E821}"/>
              </a:ext>
            </a:extLst>
          </p:cNvPr>
          <p:cNvSpPr/>
          <p:nvPr/>
        </p:nvSpPr>
        <p:spPr>
          <a:xfrm>
            <a:off x="5417788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>
            <a:extLst>
              <a:ext uri="{FF2B5EF4-FFF2-40B4-BE49-F238E27FC236}">
                <a16:creationId xmlns:a16="http://schemas.microsoft.com/office/drawing/2014/main" id="{6C709171-9C09-7A03-F656-FF6445A4B757}"/>
              </a:ext>
            </a:extLst>
          </p:cNvPr>
          <p:cNvSpPr/>
          <p:nvPr/>
        </p:nvSpPr>
        <p:spPr>
          <a:xfrm>
            <a:off x="7652762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平行四边形 8">
            <a:extLst>
              <a:ext uri="{FF2B5EF4-FFF2-40B4-BE49-F238E27FC236}">
                <a16:creationId xmlns:a16="http://schemas.microsoft.com/office/drawing/2014/main" id="{481577A7-357F-1646-F587-C904F4038658}"/>
              </a:ext>
            </a:extLst>
          </p:cNvPr>
          <p:cNvSpPr/>
          <p:nvPr/>
        </p:nvSpPr>
        <p:spPr>
          <a:xfrm>
            <a:off x="9887736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>
            <a:extLst>
              <a:ext uri="{FF2B5EF4-FFF2-40B4-BE49-F238E27FC236}">
                <a16:creationId xmlns:a16="http://schemas.microsoft.com/office/drawing/2014/main" id="{EC86D7D8-6DCB-6122-FF89-A21DCABD28B0}"/>
              </a:ext>
            </a:extLst>
          </p:cNvPr>
          <p:cNvSpPr/>
          <p:nvPr/>
        </p:nvSpPr>
        <p:spPr>
          <a:xfrm>
            <a:off x="3141959" y="374573"/>
            <a:ext cx="2108811" cy="688554"/>
          </a:xfrm>
          <a:prstGeom prst="parallelogram">
            <a:avLst/>
          </a:prstGeom>
          <a:solidFill>
            <a:srgbClr val="36A09A"/>
          </a:solidFill>
          <a:ln>
            <a:solidFill>
              <a:srgbClr val="36A0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50" b="1"/>
              <a:t>政策市场现状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D9BB23F5-1DD2-C6EF-14AD-0044FE2696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6" y="132202"/>
            <a:ext cx="532967" cy="539826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E8DD91B4-9ED6-8307-A0CA-368950ABB04E}"/>
              </a:ext>
            </a:extLst>
          </p:cNvPr>
          <p:cNvSpPr txBox="1"/>
          <p:nvPr/>
        </p:nvSpPr>
        <p:spPr>
          <a:xfrm>
            <a:off x="599503" y="137792"/>
            <a:ext cx="28047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104862"/>
                </a:solidFill>
              </a:rPr>
              <a:t>工银‘‘碳跃智衡’’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FF795DD-7D36-712F-AABD-1D8099864FB7}"/>
              </a:ext>
            </a:extLst>
          </p:cNvPr>
          <p:cNvSpPr/>
          <p:nvPr/>
        </p:nvSpPr>
        <p:spPr>
          <a:xfrm>
            <a:off x="2145349" y="1211854"/>
            <a:ext cx="4386080" cy="580616"/>
          </a:xfrm>
          <a:prstGeom prst="roundRect">
            <a:avLst/>
          </a:prstGeom>
          <a:gradFill>
            <a:gsLst>
              <a:gs pos="32000">
                <a:srgbClr val="52C2BC">
                  <a:alpha val="50000"/>
                </a:srgbClr>
              </a:gs>
              <a:gs pos="72000">
                <a:srgbClr val="40B8B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zh-CN" altLang="zh-CN" sz="2000" b="1">
                <a:solidFill>
                  <a:schemeClr val="tx1"/>
                </a:solidFill>
              </a:rPr>
              <a:t>国家级零碳园区建设带来业务新场景</a:t>
            </a:r>
            <a:endParaRPr lang="zh-CN" altLang="zh-CN" sz="2000">
              <a:solidFill>
                <a:schemeClr val="tx1"/>
              </a:solidFill>
            </a:endParaRPr>
          </a:p>
        </p:txBody>
      </p:sp>
      <p:sp>
        <p:nvSpPr>
          <p:cNvPr id="22" name="矩形: 对角圆角 21">
            <a:extLst>
              <a:ext uri="{FF2B5EF4-FFF2-40B4-BE49-F238E27FC236}">
                <a16:creationId xmlns:a16="http://schemas.microsoft.com/office/drawing/2014/main" id="{3C21FDA2-5FB1-832F-3ADD-61CC6FC05631}"/>
              </a:ext>
            </a:extLst>
          </p:cNvPr>
          <p:cNvSpPr/>
          <p:nvPr/>
        </p:nvSpPr>
        <p:spPr>
          <a:xfrm>
            <a:off x="66536" y="1193757"/>
            <a:ext cx="1970314" cy="598713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>
                <a:solidFill>
                  <a:schemeClr val="tx1"/>
                </a:solidFill>
              </a:rPr>
              <a:t>政策引领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49AD381B-C64A-4BD0-F754-69FCF64D01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7354" y="2017398"/>
            <a:ext cx="5225143" cy="2692578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7DF1CCFD-E5B7-CB39-89E2-18B11D64B6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503" y="2017398"/>
            <a:ext cx="5315481" cy="2775991"/>
          </a:xfrm>
          <a:prstGeom prst="rect">
            <a:avLst/>
          </a:prstGeom>
        </p:spPr>
      </p:pic>
      <p:sp>
        <p:nvSpPr>
          <p:cNvPr id="45" name="矩形 44">
            <a:extLst>
              <a:ext uri="{FF2B5EF4-FFF2-40B4-BE49-F238E27FC236}">
                <a16:creationId xmlns:a16="http://schemas.microsoft.com/office/drawing/2014/main" id="{720072FD-74AB-B96C-27BF-ED2ED4FD477A}"/>
              </a:ext>
            </a:extLst>
          </p:cNvPr>
          <p:cNvSpPr/>
          <p:nvPr/>
        </p:nvSpPr>
        <p:spPr>
          <a:xfrm>
            <a:off x="2526096" y="5076875"/>
            <a:ext cx="7139807" cy="1138541"/>
          </a:xfrm>
          <a:prstGeom prst="rect">
            <a:avLst/>
          </a:prstGeom>
          <a:solidFill>
            <a:srgbClr val="8DD7D3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“</a:t>
            </a:r>
            <a:r>
              <a:rPr lang="zh-CN" altLang="zh-CN" sz="2000" b="1">
                <a:solidFill>
                  <a:schemeClr val="tx1"/>
                </a:solidFill>
              </a:rPr>
              <a:t>园区</a:t>
            </a:r>
            <a:r>
              <a:rPr lang="en-US" altLang="zh-CN" sz="2000" b="1">
                <a:solidFill>
                  <a:schemeClr val="tx1"/>
                </a:solidFill>
              </a:rPr>
              <a:t>”</a:t>
            </a:r>
            <a:r>
              <a:rPr lang="zh-CN" altLang="zh-CN" sz="2000" b="1">
                <a:solidFill>
                  <a:schemeClr val="tx1"/>
                </a:solidFill>
              </a:rPr>
              <a:t>正在成为工业绿色转型的重要组织载体，也为银行从单户客户服务向园区批量转型金融服务提供了现实场景。</a:t>
            </a:r>
          </a:p>
        </p:txBody>
      </p:sp>
    </p:spTree>
    <p:extLst>
      <p:ext uri="{BB962C8B-B14F-4D97-AF65-F5344CB8AC3E}">
        <p14:creationId xmlns:p14="http://schemas.microsoft.com/office/powerpoint/2010/main" val="448972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984A4-65E9-3627-9829-70A04B466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C7CDAFA-D635-54E4-E55C-ED11AB91D00B}"/>
              </a:ext>
            </a:extLst>
          </p:cNvPr>
          <p:cNvSpPr/>
          <p:nvPr/>
        </p:nvSpPr>
        <p:spPr>
          <a:xfrm>
            <a:off x="0" y="0"/>
            <a:ext cx="12192000" cy="925286"/>
          </a:xfrm>
          <a:prstGeom prst="rect">
            <a:avLst/>
          </a:prstGeom>
          <a:gradFill>
            <a:gsLst>
              <a:gs pos="32000">
                <a:srgbClr val="52C2BC">
                  <a:alpha val="50000"/>
                </a:srgbClr>
              </a:gs>
              <a:gs pos="72000">
                <a:srgbClr val="40B8B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F0F81CD0-A910-E219-539A-C6AFB35B7120}"/>
              </a:ext>
            </a:extLst>
          </p:cNvPr>
          <p:cNvSpPr/>
          <p:nvPr/>
        </p:nvSpPr>
        <p:spPr>
          <a:xfrm>
            <a:off x="3182814" y="523301"/>
            <a:ext cx="2027103" cy="539826"/>
          </a:xfrm>
          <a:prstGeom prst="parallelogram">
            <a:avLst/>
          </a:prstGeom>
          <a:solidFill>
            <a:schemeClr val="bg1"/>
          </a:solidFill>
          <a:ln>
            <a:solidFill>
              <a:srgbClr val="36A0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BFE396A2-F2DC-A61E-2533-C0726F6EA164}"/>
              </a:ext>
            </a:extLst>
          </p:cNvPr>
          <p:cNvSpPr/>
          <p:nvPr/>
        </p:nvSpPr>
        <p:spPr>
          <a:xfrm>
            <a:off x="5417788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>
            <a:extLst>
              <a:ext uri="{FF2B5EF4-FFF2-40B4-BE49-F238E27FC236}">
                <a16:creationId xmlns:a16="http://schemas.microsoft.com/office/drawing/2014/main" id="{546D0521-A234-7512-6D77-78C8D7F8628B}"/>
              </a:ext>
            </a:extLst>
          </p:cNvPr>
          <p:cNvSpPr/>
          <p:nvPr/>
        </p:nvSpPr>
        <p:spPr>
          <a:xfrm>
            <a:off x="7652762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平行四边形 8">
            <a:extLst>
              <a:ext uri="{FF2B5EF4-FFF2-40B4-BE49-F238E27FC236}">
                <a16:creationId xmlns:a16="http://schemas.microsoft.com/office/drawing/2014/main" id="{66595C2C-A228-3F61-062E-BE4E20016199}"/>
              </a:ext>
            </a:extLst>
          </p:cNvPr>
          <p:cNvSpPr/>
          <p:nvPr/>
        </p:nvSpPr>
        <p:spPr>
          <a:xfrm>
            <a:off x="9887736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>
            <a:extLst>
              <a:ext uri="{FF2B5EF4-FFF2-40B4-BE49-F238E27FC236}">
                <a16:creationId xmlns:a16="http://schemas.microsoft.com/office/drawing/2014/main" id="{988D0E33-3A20-594F-5F21-E48455F61E89}"/>
              </a:ext>
            </a:extLst>
          </p:cNvPr>
          <p:cNvSpPr/>
          <p:nvPr/>
        </p:nvSpPr>
        <p:spPr>
          <a:xfrm>
            <a:off x="3141959" y="374573"/>
            <a:ext cx="2108811" cy="688554"/>
          </a:xfrm>
          <a:prstGeom prst="parallelogram">
            <a:avLst/>
          </a:prstGeom>
          <a:solidFill>
            <a:srgbClr val="36A09A"/>
          </a:solidFill>
          <a:ln>
            <a:solidFill>
              <a:srgbClr val="36A0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50" b="1"/>
              <a:t>政策市场现状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BD22FBE1-D743-898B-9917-2EB262DFD9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6" y="132202"/>
            <a:ext cx="532967" cy="539826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186C24D8-B13E-326C-3632-7BDBF0DD4893}"/>
              </a:ext>
            </a:extLst>
          </p:cNvPr>
          <p:cNvSpPr txBox="1"/>
          <p:nvPr/>
        </p:nvSpPr>
        <p:spPr>
          <a:xfrm>
            <a:off x="599503" y="137792"/>
            <a:ext cx="28047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104862"/>
                </a:solidFill>
              </a:rPr>
              <a:t>工银‘’碳跃智衡’’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1F6ED2F-B6C9-CA70-E275-B1BB16E9C2C0}"/>
              </a:ext>
            </a:extLst>
          </p:cNvPr>
          <p:cNvSpPr/>
          <p:nvPr/>
        </p:nvSpPr>
        <p:spPr>
          <a:xfrm>
            <a:off x="2145349" y="1211854"/>
            <a:ext cx="5605280" cy="580616"/>
          </a:xfrm>
          <a:prstGeom prst="roundRect">
            <a:avLst/>
          </a:prstGeom>
          <a:gradFill>
            <a:gsLst>
              <a:gs pos="32000">
                <a:srgbClr val="52C2BC">
                  <a:alpha val="50000"/>
                </a:srgbClr>
              </a:gs>
              <a:gs pos="72000">
                <a:srgbClr val="40B8B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zh-CN" altLang="zh-CN" sz="2000" b="1">
                <a:solidFill>
                  <a:schemeClr val="tx1"/>
                </a:solidFill>
              </a:rPr>
              <a:t>转型金融逐步落地，高碳企业成为重点服务对象</a:t>
            </a:r>
            <a:endParaRPr lang="zh-CN" altLang="zh-CN" sz="2000">
              <a:solidFill>
                <a:schemeClr val="tx1"/>
              </a:solidFill>
            </a:endParaRPr>
          </a:p>
        </p:txBody>
      </p:sp>
      <p:sp>
        <p:nvSpPr>
          <p:cNvPr id="22" name="矩形: 对角圆角 21">
            <a:extLst>
              <a:ext uri="{FF2B5EF4-FFF2-40B4-BE49-F238E27FC236}">
                <a16:creationId xmlns:a16="http://schemas.microsoft.com/office/drawing/2014/main" id="{3EDBCCAA-9EE6-7867-9D17-BDE18C893DA1}"/>
              </a:ext>
            </a:extLst>
          </p:cNvPr>
          <p:cNvSpPr/>
          <p:nvPr/>
        </p:nvSpPr>
        <p:spPr>
          <a:xfrm>
            <a:off x="66536" y="1193757"/>
            <a:ext cx="1970314" cy="598713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>
                <a:solidFill>
                  <a:schemeClr val="tx1"/>
                </a:solidFill>
              </a:rPr>
              <a:t>市场态势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A5242AF-0252-07CB-C922-B686F752568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99" t="3813" b="8861"/>
          <a:stretch>
            <a:fillRect/>
          </a:stretch>
        </p:blipFill>
        <p:spPr>
          <a:xfrm>
            <a:off x="1371600" y="1941197"/>
            <a:ext cx="9056913" cy="3440019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3AF3C07C-2D37-DD36-16E7-E2A84827B619}"/>
              </a:ext>
            </a:extLst>
          </p:cNvPr>
          <p:cNvSpPr/>
          <p:nvPr/>
        </p:nvSpPr>
        <p:spPr>
          <a:xfrm>
            <a:off x="2330152" y="5356231"/>
            <a:ext cx="7139807" cy="1040896"/>
          </a:xfrm>
          <a:prstGeom prst="rect">
            <a:avLst/>
          </a:prstGeom>
          <a:solidFill>
            <a:srgbClr val="8DD7D3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“转型金融最大的蓝海，是高碳产业的低碳改造。”</a:t>
            </a:r>
            <a:endParaRPr lang="en-US" altLang="zh-CN" sz="2000" b="1">
              <a:solidFill>
                <a:schemeClr val="tx1"/>
              </a:solidFill>
            </a:endParaRPr>
          </a:p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                                                                     ——</a:t>
            </a:r>
            <a:r>
              <a:rPr lang="zh-CN" altLang="en-US" sz="2000" b="1">
                <a:solidFill>
                  <a:schemeClr val="tx1"/>
                </a:solidFill>
              </a:rPr>
              <a:t>行业公开观点</a:t>
            </a:r>
            <a:endParaRPr lang="zh-CN" altLang="zh-CN" sz="20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430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75F07-0FF5-F841-5666-FC5F3DA0C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B581D1C-0D84-8562-A6B0-C9E0BF559BCB}"/>
              </a:ext>
            </a:extLst>
          </p:cNvPr>
          <p:cNvSpPr/>
          <p:nvPr/>
        </p:nvSpPr>
        <p:spPr>
          <a:xfrm>
            <a:off x="0" y="0"/>
            <a:ext cx="12192000" cy="925286"/>
          </a:xfrm>
          <a:prstGeom prst="rect">
            <a:avLst/>
          </a:prstGeom>
          <a:gradFill>
            <a:gsLst>
              <a:gs pos="32000">
                <a:srgbClr val="52C2BC">
                  <a:alpha val="50000"/>
                </a:srgbClr>
              </a:gs>
              <a:gs pos="72000">
                <a:srgbClr val="40B8B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F8BD4EDF-C368-E1EC-F85F-EA68221D44F5}"/>
              </a:ext>
            </a:extLst>
          </p:cNvPr>
          <p:cNvSpPr/>
          <p:nvPr/>
        </p:nvSpPr>
        <p:spPr>
          <a:xfrm>
            <a:off x="3182814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621096C2-5E7B-B0C4-5038-94B9F4385BB0}"/>
              </a:ext>
            </a:extLst>
          </p:cNvPr>
          <p:cNvSpPr/>
          <p:nvPr/>
        </p:nvSpPr>
        <p:spPr>
          <a:xfrm>
            <a:off x="5417788" y="523301"/>
            <a:ext cx="2027103" cy="539826"/>
          </a:xfrm>
          <a:prstGeom prst="parallelogram">
            <a:avLst/>
          </a:prstGeom>
          <a:solidFill>
            <a:schemeClr val="bg1"/>
          </a:solidFill>
          <a:ln>
            <a:solidFill>
              <a:srgbClr val="36A0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>
            <a:extLst>
              <a:ext uri="{FF2B5EF4-FFF2-40B4-BE49-F238E27FC236}">
                <a16:creationId xmlns:a16="http://schemas.microsoft.com/office/drawing/2014/main" id="{9816C1EE-2738-DECB-6E74-7AB5F3BA0BF2}"/>
              </a:ext>
            </a:extLst>
          </p:cNvPr>
          <p:cNvSpPr/>
          <p:nvPr/>
        </p:nvSpPr>
        <p:spPr>
          <a:xfrm>
            <a:off x="7652762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平行四边形 8">
            <a:extLst>
              <a:ext uri="{FF2B5EF4-FFF2-40B4-BE49-F238E27FC236}">
                <a16:creationId xmlns:a16="http://schemas.microsoft.com/office/drawing/2014/main" id="{1B667C98-FCE4-B37C-647C-6FFF51F15286}"/>
              </a:ext>
            </a:extLst>
          </p:cNvPr>
          <p:cNvSpPr/>
          <p:nvPr/>
        </p:nvSpPr>
        <p:spPr>
          <a:xfrm>
            <a:off x="9887736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>
            <a:extLst>
              <a:ext uri="{FF2B5EF4-FFF2-40B4-BE49-F238E27FC236}">
                <a16:creationId xmlns:a16="http://schemas.microsoft.com/office/drawing/2014/main" id="{46D97D37-8702-EB2E-829D-190CE143D337}"/>
              </a:ext>
            </a:extLst>
          </p:cNvPr>
          <p:cNvSpPr/>
          <p:nvPr/>
        </p:nvSpPr>
        <p:spPr>
          <a:xfrm>
            <a:off x="5417788" y="370968"/>
            <a:ext cx="2108811" cy="688554"/>
          </a:xfrm>
          <a:prstGeom prst="parallelogram">
            <a:avLst/>
          </a:prstGeom>
          <a:solidFill>
            <a:srgbClr val="36A09A"/>
          </a:solidFill>
          <a:ln>
            <a:solidFill>
              <a:srgbClr val="36A0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50" b="1"/>
              <a:t>工行业务基础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5467A207-64E8-7B6A-A66C-2DFEB31242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6" y="132202"/>
            <a:ext cx="532967" cy="539826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76570E3D-E13B-01A0-625A-B5C9D1DF73B9}"/>
              </a:ext>
            </a:extLst>
          </p:cNvPr>
          <p:cNvSpPr txBox="1"/>
          <p:nvPr/>
        </p:nvSpPr>
        <p:spPr>
          <a:xfrm>
            <a:off x="599503" y="137792"/>
            <a:ext cx="28047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104862"/>
                </a:solidFill>
              </a:rPr>
              <a:t>工银‘’碳跃智衡’’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79301799-C9C3-E683-E4DC-F937EC45568D}"/>
              </a:ext>
            </a:extLst>
          </p:cNvPr>
          <p:cNvSpPr/>
          <p:nvPr/>
        </p:nvSpPr>
        <p:spPr>
          <a:xfrm>
            <a:off x="2145349" y="1211854"/>
            <a:ext cx="5605280" cy="580616"/>
          </a:xfrm>
          <a:prstGeom prst="roundRect">
            <a:avLst/>
          </a:prstGeom>
          <a:gradFill>
            <a:gsLst>
              <a:gs pos="32000">
                <a:srgbClr val="52C2BC">
                  <a:alpha val="50000"/>
                </a:srgbClr>
              </a:gs>
              <a:gs pos="72000">
                <a:srgbClr val="40B8B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zh-CN" altLang="zh-CN" sz="2000" b="1">
                <a:solidFill>
                  <a:schemeClr val="tx1"/>
                </a:solidFill>
              </a:rPr>
              <a:t>工商银行已经具备非常强的绿色与转型金融基础</a:t>
            </a:r>
            <a:endParaRPr lang="zh-CN" altLang="zh-CN" sz="2000">
              <a:solidFill>
                <a:schemeClr val="tx1"/>
              </a:solidFill>
            </a:endParaRPr>
          </a:p>
        </p:txBody>
      </p:sp>
      <p:sp>
        <p:nvSpPr>
          <p:cNvPr id="22" name="矩形: 对角圆角 21">
            <a:extLst>
              <a:ext uri="{FF2B5EF4-FFF2-40B4-BE49-F238E27FC236}">
                <a16:creationId xmlns:a16="http://schemas.microsoft.com/office/drawing/2014/main" id="{1F1B0957-272A-14CE-7993-184D50DFB79A}"/>
              </a:ext>
            </a:extLst>
          </p:cNvPr>
          <p:cNvSpPr/>
          <p:nvPr/>
        </p:nvSpPr>
        <p:spPr>
          <a:xfrm>
            <a:off x="66536" y="1193757"/>
            <a:ext cx="1970314" cy="598713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>
                <a:solidFill>
                  <a:schemeClr val="tx1"/>
                </a:solidFill>
              </a:rPr>
              <a:t>工行基础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EDD2777-D963-CD13-11E1-3DAE2F666CC4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7" t="18196" r="52598" b="7472"/>
          <a:stretch>
            <a:fillRect/>
          </a:stretch>
        </p:blipFill>
        <p:spPr>
          <a:xfrm>
            <a:off x="848415" y="1792470"/>
            <a:ext cx="4099574" cy="4927738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247499BF-2683-108E-DB78-0BADAD16934E}"/>
              </a:ext>
            </a:extLst>
          </p:cNvPr>
          <p:cNvSpPr txBox="1"/>
          <p:nvPr/>
        </p:nvSpPr>
        <p:spPr>
          <a:xfrm>
            <a:off x="6648354" y="2091168"/>
            <a:ext cx="51517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accent3"/>
                </a:solidFill>
              </a:rPr>
              <a:t>庞大信贷底盘</a:t>
            </a:r>
            <a:endParaRPr lang="en-US" altLang="zh-CN" sz="2800" b="1">
              <a:solidFill>
                <a:schemeClr val="accent3"/>
              </a:solidFill>
            </a:endParaRPr>
          </a:p>
          <a:p>
            <a:r>
              <a:rPr lang="en-US" altLang="zh-CN" sz="1400" b="1"/>
              <a:t>2025</a:t>
            </a:r>
            <a:r>
              <a:rPr lang="zh-CN" altLang="en-US" sz="1400" b="1"/>
              <a:t>年绿色贷款余额超</a:t>
            </a:r>
            <a:r>
              <a:rPr lang="en-US" altLang="zh-CN" sz="1400" b="1"/>
              <a:t>6.7</a:t>
            </a:r>
            <a:r>
              <a:rPr lang="zh-CN" altLang="en-US" sz="1400" b="1"/>
              <a:t>万亿元</a:t>
            </a:r>
            <a:r>
              <a:rPr lang="en-US" altLang="zh-CN" sz="1400" b="1"/>
              <a:t>;2025</a:t>
            </a:r>
            <a:r>
              <a:rPr lang="zh-CN" altLang="en-US" sz="1400" b="1"/>
              <a:t>年制造业贷款余额</a:t>
            </a:r>
            <a:r>
              <a:rPr lang="en-US" altLang="zh-CN" sz="1400" b="1"/>
              <a:t>5.24</a:t>
            </a:r>
            <a:r>
              <a:rPr lang="zh-CN" altLang="en-US" sz="1400" b="1"/>
              <a:t>万亿元</a:t>
            </a:r>
            <a:r>
              <a:rPr lang="en-US" altLang="zh-CN" sz="1400" b="1"/>
              <a:t>; </a:t>
            </a:r>
            <a:r>
              <a:rPr lang="zh-CN" altLang="en-US" sz="1400" b="1"/>
              <a:t>对公服务客户超</a:t>
            </a:r>
            <a:r>
              <a:rPr lang="en-US" altLang="zh-CN" sz="1400" b="1"/>
              <a:t>1400</a:t>
            </a:r>
            <a:r>
              <a:rPr lang="zh-CN" altLang="en-US" sz="1400" b="1"/>
              <a:t>万户。</a:t>
            </a:r>
          </a:p>
        </p:txBody>
      </p:sp>
      <p:pic>
        <p:nvPicPr>
          <p:cNvPr id="16" name="图形 15">
            <a:extLst>
              <a:ext uri="{FF2B5EF4-FFF2-40B4-BE49-F238E27FC236}">
                <a16:creationId xmlns:a16="http://schemas.microsoft.com/office/drawing/2014/main" id="{EA121EE6-4C4D-22EA-B318-6B7EF3DEC1A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45523" y="2253304"/>
            <a:ext cx="700953" cy="700953"/>
          </a:xfrm>
          <a:prstGeom prst="rect">
            <a:avLst/>
          </a:prstGeom>
        </p:spPr>
      </p:pic>
      <p:pic>
        <p:nvPicPr>
          <p:cNvPr id="20" name="图形 19">
            <a:extLst>
              <a:ext uri="{FF2B5EF4-FFF2-40B4-BE49-F238E27FC236}">
                <a16:creationId xmlns:a16="http://schemas.microsoft.com/office/drawing/2014/main" id="{E0A17646-F328-E932-E2D3-4361B247A70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45522" y="3395378"/>
            <a:ext cx="700954" cy="700954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350A54E5-6306-0946-FFC6-F73ED2C315A1}"/>
              </a:ext>
            </a:extLst>
          </p:cNvPr>
          <p:cNvSpPr txBox="1"/>
          <p:nvPr/>
        </p:nvSpPr>
        <p:spPr>
          <a:xfrm>
            <a:off x="6648354" y="3343973"/>
            <a:ext cx="515176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转型金融实践</a:t>
            </a:r>
            <a:endParaRPr lang="en-US" altLang="zh-CN" sz="2800" b="1">
              <a:solidFill>
                <a:schemeClr val="accent1"/>
              </a:solidFill>
            </a:endParaRPr>
          </a:p>
          <a:p>
            <a:r>
              <a:rPr lang="zh-CN" altLang="en-US" sz="1400" b="1"/>
              <a:t>工行已落地多企业碳账户挂钩贷款、建立</a:t>
            </a:r>
            <a:r>
              <a:rPr lang="en-US" altLang="zh-CN" sz="1400" b="1"/>
              <a:t>ESG</a:t>
            </a:r>
            <a:r>
              <a:rPr lang="zh-CN" altLang="en-US" sz="1400" b="1"/>
              <a:t>顾问服务平台，并与全国及区域碳市场建立系统和结算连接。</a:t>
            </a:r>
            <a:endParaRPr lang="en-US" altLang="zh-CN" sz="1400" b="1"/>
          </a:p>
          <a:p>
            <a:r>
              <a:rPr lang="en-US" altLang="zh-CN" sz="1400" b="1"/>
              <a:t>2025年可持续发展报告显示，浙江分行为钢铁行业企业发放1.255亿元可持续发展挂钩贷款，贷款利率与碳账户等级和碳排放强度动态绑定</a:t>
            </a:r>
            <a:r>
              <a:rPr lang="zh-CN" altLang="en-US" sz="1400" b="1"/>
              <a:t>。</a:t>
            </a:r>
            <a:endParaRPr lang="en-US" altLang="zh-CN" sz="1400" b="1"/>
          </a:p>
        </p:txBody>
      </p:sp>
      <p:pic>
        <p:nvPicPr>
          <p:cNvPr id="27" name="图形 26">
            <a:extLst>
              <a:ext uri="{FF2B5EF4-FFF2-40B4-BE49-F238E27FC236}">
                <a16:creationId xmlns:a16="http://schemas.microsoft.com/office/drawing/2014/main" id="{2743F726-4126-2E86-7148-6E2486BCED9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88244" y="5065531"/>
            <a:ext cx="815510" cy="815510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A0131DE8-9549-7646-61A8-E7A7328F822E}"/>
              </a:ext>
            </a:extLst>
          </p:cNvPr>
          <p:cNvSpPr txBox="1"/>
          <p:nvPr/>
        </p:nvSpPr>
        <p:spPr>
          <a:xfrm>
            <a:off x="6648354" y="5243109"/>
            <a:ext cx="515176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tx2">
                    <a:lumMod val="50000"/>
                    <a:lumOff val="50000"/>
                  </a:schemeClr>
                </a:solidFill>
              </a:rPr>
              <a:t>顶尖科技底座</a:t>
            </a:r>
            <a:endParaRPr lang="en-US" altLang="zh-CN" sz="2800" b="1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r>
              <a:rPr lang="zh-CN" altLang="en-US" sz="1400" b="1"/>
              <a:t>金融科技方面推进</a:t>
            </a:r>
            <a:r>
              <a:rPr lang="en-US" altLang="zh-CN" sz="1400" b="1"/>
              <a:t>D-ICBC“</a:t>
            </a:r>
            <a:r>
              <a:rPr lang="zh-CN" altLang="en-US" sz="1400" b="1"/>
              <a:t>领航</a:t>
            </a:r>
            <a:r>
              <a:rPr lang="en-US" altLang="zh-CN" sz="1400" b="1"/>
              <a:t>AI+”，成为银行业唯一入选国家数据局2025年可信数据空间创新发展试点名单的机构，并在数字化转型能力评估中获得最高等级认证</a:t>
            </a:r>
            <a:r>
              <a:rPr lang="zh-CN" altLang="en-US" sz="1400" b="1"/>
              <a:t>。</a:t>
            </a:r>
            <a:endParaRPr lang="en-US" altLang="zh-CN" sz="1400" b="1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373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2AF84-107B-B4BF-3FF5-DC10D0F46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D61D914-197B-842C-6F51-4A33CD82963F}"/>
              </a:ext>
            </a:extLst>
          </p:cNvPr>
          <p:cNvSpPr/>
          <p:nvPr/>
        </p:nvSpPr>
        <p:spPr>
          <a:xfrm>
            <a:off x="0" y="0"/>
            <a:ext cx="12192000" cy="925286"/>
          </a:xfrm>
          <a:prstGeom prst="rect">
            <a:avLst/>
          </a:prstGeom>
          <a:gradFill>
            <a:gsLst>
              <a:gs pos="32000">
                <a:srgbClr val="52C2BC">
                  <a:alpha val="50000"/>
                </a:srgbClr>
              </a:gs>
              <a:gs pos="72000">
                <a:srgbClr val="40B8B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8F2B0B6F-B57C-B214-C55C-3DD8B9A0C577}"/>
              </a:ext>
            </a:extLst>
          </p:cNvPr>
          <p:cNvSpPr/>
          <p:nvPr/>
        </p:nvSpPr>
        <p:spPr>
          <a:xfrm>
            <a:off x="3182814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141CA5F5-C0BC-9753-6D60-36903DC52A2F}"/>
              </a:ext>
            </a:extLst>
          </p:cNvPr>
          <p:cNvSpPr/>
          <p:nvPr/>
        </p:nvSpPr>
        <p:spPr>
          <a:xfrm>
            <a:off x="5417788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>
            <a:extLst>
              <a:ext uri="{FF2B5EF4-FFF2-40B4-BE49-F238E27FC236}">
                <a16:creationId xmlns:a16="http://schemas.microsoft.com/office/drawing/2014/main" id="{CEB4C1FC-B8A8-577E-1A5F-96FB48360057}"/>
              </a:ext>
            </a:extLst>
          </p:cNvPr>
          <p:cNvSpPr/>
          <p:nvPr/>
        </p:nvSpPr>
        <p:spPr>
          <a:xfrm>
            <a:off x="7652762" y="523301"/>
            <a:ext cx="2027103" cy="539826"/>
          </a:xfrm>
          <a:prstGeom prst="parallelogram">
            <a:avLst/>
          </a:prstGeom>
          <a:solidFill>
            <a:schemeClr val="bg1"/>
          </a:solidFill>
          <a:ln>
            <a:solidFill>
              <a:srgbClr val="36A0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平行四边形 8">
            <a:extLst>
              <a:ext uri="{FF2B5EF4-FFF2-40B4-BE49-F238E27FC236}">
                <a16:creationId xmlns:a16="http://schemas.microsoft.com/office/drawing/2014/main" id="{EBF8D976-75FA-703D-5F02-5E3CCF139350}"/>
              </a:ext>
            </a:extLst>
          </p:cNvPr>
          <p:cNvSpPr/>
          <p:nvPr/>
        </p:nvSpPr>
        <p:spPr>
          <a:xfrm>
            <a:off x="9887736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>
            <a:extLst>
              <a:ext uri="{FF2B5EF4-FFF2-40B4-BE49-F238E27FC236}">
                <a16:creationId xmlns:a16="http://schemas.microsoft.com/office/drawing/2014/main" id="{5AB9FE9F-EB89-CC2C-F5E6-45655DFA9699}"/>
              </a:ext>
            </a:extLst>
          </p:cNvPr>
          <p:cNvSpPr/>
          <p:nvPr/>
        </p:nvSpPr>
        <p:spPr>
          <a:xfrm>
            <a:off x="7652762" y="374573"/>
            <a:ext cx="2108811" cy="688554"/>
          </a:xfrm>
          <a:prstGeom prst="parallelogram">
            <a:avLst/>
          </a:prstGeom>
          <a:solidFill>
            <a:srgbClr val="36A09A"/>
          </a:solidFill>
          <a:ln>
            <a:solidFill>
              <a:srgbClr val="36A0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50" b="1"/>
              <a:t>行业核心痛点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5A23FD25-BC10-2DAF-8947-4AB82A0DFF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6" y="132202"/>
            <a:ext cx="532967" cy="539826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D9183E09-D5D8-3C48-0C6B-DA868FF986E3}"/>
              </a:ext>
            </a:extLst>
          </p:cNvPr>
          <p:cNvSpPr txBox="1"/>
          <p:nvPr/>
        </p:nvSpPr>
        <p:spPr>
          <a:xfrm>
            <a:off x="599503" y="137792"/>
            <a:ext cx="28047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104862"/>
                </a:solidFill>
              </a:rPr>
              <a:t>工银‘’碳跃智衡’’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EB421D9-9239-57D9-3691-99C634CABD9A}"/>
              </a:ext>
            </a:extLst>
          </p:cNvPr>
          <p:cNvSpPr/>
          <p:nvPr/>
        </p:nvSpPr>
        <p:spPr>
          <a:xfrm>
            <a:off x="2145349" y="1211854"/>
            <a:ext cx="5387565" cy="580616"/>
          </a:xfrm>
          <a:prstGeom prst="roundRect">
            <a:avLst/>
          </a:prstGeom>
          <a:gradFill>
            <a:gsLst>
              <a:gs pos="32000">
                <a:srgbClr val="52C2BC">
                  <a:alpha val="50000"/>
                </a:srgbClr>
              </a:gs>
              <a:gs pos="72000">
                <a:srgbClr val="40B8B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zh-CN" altLang="en-US" sz="2000" b="1">
                <a:solidFill>
                  <a:schemeClr val="tx1"/>
                </a:solidFill>
              </a:rPr>
              <a:t>工行转型金融精细化升级面临的行业共性制约</a:t>
            </a:r>
            <a:endParaRPr lang="zh-CN" altLang="zh-CN" sz="2000">
              <a:solidFill>
                <a:schemeClr val="tx1"/>
              </a:solidFill>
            </a:endParaRPr>
          </a:p>
        </p:txBody>
      </p:sp>
      <p:sp>
        <p:nvSpPr>
          <p:cNvPr id="22" name="矩形: 对角圆角 21">
            <a:extLst>
              <a:ext uri="{FF2B5EF4-FFF2-40B4-BE49-F238E27FC236}">
                <a16:creationId xmlns:a16="http://schemas.microsoft.com/office/drawing/2014/main" id="{4456D1F3-95B0-C1DC-B4EB-63E6A16CEDC8}"/>
              </a:ext>
            </a:extLst>
          </p:cNvPr>
          <p:cNvSpPr/>
          <p:nvPr/>
        </p:nvSpPr>
        <p:spPr>
          <a:xfrm>
            <a:off x="66536" y="1193757"/>
            <a:ext cx="1970314" cy="598713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>
                <a:solidFill>
                  <a:schemeClr val="tx1"/>
                </a:solidFill>
              </a:rPr>
              <a:t>四大痛点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9847FEE-11A5-D7CE-89BE-CF8FA8EC12F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77" t="20749" r="31199" b="12761"/>
          <a:stretch>
            <a:fillRect/>
          </a:stretch>
        </p:blipFill>
        <p:spPr>
          <a:xfrm>
            <a:off x="4430486" y="2365740"/>
            <a:ext cx="3320143" cy="3381917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AAE1ABB-7BF2-FBC2-3FF9-A50DA31B1755}"/>
              </a:ext>
            </a:extLst>
          </p:cNvPr>
          <p:cNvSpPr txBox="1"/>
          <p:nvPr/>
        </p:nvSpPr>
        <p:spPr>
          <a:xfrm>
            <a:off x="1383350" y="2503838"/>
            <a:ext cx="2743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accent5"/>
                </a:solidFill>
              </a:rPr>
              <a:t>转型资格难识别</a:t>
            </a:r>
            <a:endParaRPr lang="en-US" altLang="zh-CN" sz="2400" b="1">
              <a:solidFill>
                <a:schemeClr val="accent5"/>
              </a:solidFill>
            </a:endParaRPr>
          </a:p>
          <a:p>
            <a:r>
              <a:rPr lang="zh-CN" altLang="en-US" b="1"/>
              <a:t>单看</a:t>
            </a:r>
            <a:r>
              <a:rPr lang="en-US" altLang="zh-CN" b="1"/>
              <a:t>“</a:t>
            </a:r>
            <a:r>
              <a:rPr lang="zh-CN" altLang="en-US" b="1"/>
              <a:t>是否绿色</a:t>
            </a:r>
            <a:r>
              <a:rPr lang="en-US" altLang="zh-CN" b="1"/>
              <a:t>”</a:t>
            </a:r>
            <a:r>
              <a:rPr lang="zh-CN" altLang="en-US" b="1"/>
              <a:t>过于局限</a:t>
            </a:r>
            <a:r>
              <a:rPr lang="en-US" altLang="zh-CN" b="1"/>
              <a:t>；</a:t>
            </a:r>
            <a:r>
              <a:rPr lang="zh-CN" altLang="en-US" b="1"/>
              <a:t>单看规划又容易过度乐观。</a:t>
            </a:r>
            <a:endParaRPr lang="zh-CN" altLang="en-US" sz="2400" b="1">
              <a:solidFill>
                <a:schemeClr val="accent5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FB54A18-0B80-9292-E6FB-54627BB5F195}"/>
              </a:ext>
            </a:extLst>
          </p:cNvPr>
          <p:cNvSpPr txBox="1"/>
          <p:nvPr/>
        </p:nvSpPr>
        <p:spPr>
          <a:xfrm>
            <a:off x="7864060" y="2503838"/>
            <a:ext cx="273231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>
                <a:solidFill>
                  <a:schemeClr val="accent3"/>
                </a:solidFill>
              </a:rPr>
              <a:t>转型绩效难验证</a:t>
            </a:r>
            <a:endParaRPr lang="en-US" altLang="zh-CN" sz="2400" b="1">
              <a:solidFill>
                <a:schemeClr val="accent3"/>
              </a:solidFill>
            </a:endParaRPr>
          </a:p>
          <a:p>
            <a:r>
              <a:rPr lang="zh-CN" altLang="en-US" b="1"/>
              <a:t>只看碳强度或总排放结果无法判断减排质量。</a:t>
            </a:r>
            <a:endParaRPr lang="zh-CN" altLang="en-US" sz="2400" b="1">
              <a:solidFill>
                <a:schemeClr val="accent5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5C04AE9-99B4-FEE5-1CC6-99328A5AF417}"/>
              </a:ext>
            </a:extLst>
          </p:cNvPr>
          <p:cNvSpPr txBox="1"/>
          <p:nvPr/>
        </p:nvSpPr>
        <p:spPr>
          <a:xfrm>
            <a:off x="1383350" y="4630483"/>
            <a:ext cx="307119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>
                <a:solidFill>
                  <a:schemeClr val="accent1"/>
                </a:solidFill>
              </a:rPr>
              <a:t>园区关联风险难穿透</a:t>
            </a:r>
            <a:endParaRPr lang="en-US" altLang="zh-CN" sz="2400" b="1">
              <a:solidFill>
                <a:schemeClr val="accent1"/>
              </a:solidFill>
            </a:endParaRPr>
          </a:p>
          <a:p>
            <a:r>
              <a:rPr lang="zh-CN" altLang="en-US" b="1"/>
              <a:t>单户授信难识别共同冲击和间接传播。</a:t>
            </a:r>
            <a:endParaRPr lang="zh-CN" altLang="en-US" sz="2400" b="1">
              <a:solidFill>
                <a:schemeClr val="accent5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1AAD833-7AD3-244D-09F7-34FE7F7174D7}"/>
              </a:ext>
            </a:extLst>
          </p:cNvPr>
          <p:cNvSpPr txBox="1"/>
          <p:nvPr/>
        </p:nvSpPr>
        <p:spPr>
          <a:xfrm>
            <a:off x="7864060" y="4634537"/>
            <a:ext cx="363160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>
                <a:solidFill>
                  <a:schemeClr val="accent4"/>
                </a:solidFill>
              </a:rPr>
              <a:t>静态授信难匹配持续转型</a:t>
            </a:r>
            <a:endParaRPr lang="en-US" altLang="zh-CN" sz="2400" b="1">
              <a:solidFill>
                <a:schemeClr val="accent4"/>
              </a:solidFill>
            </a:endParaRPr>
          </a:p>
          <a:p>
            <a:r>
              <a:rPr lang="zh-CN" altLang="en-US" b="1"/>
              <a:t>传统的贷前认定与定期检查滞后。</a:t>
            </a:r>
            <a:endParaRPr lang="en-US" altLang="zh-CN" sz="2400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5169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CDC47-EF8F-B1A5-03B9-E2FA6B3AC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4D7BF58-4EB0-FA24-99A3-A03725496D9C}"/>
              </a:ext>
            </a:extLst>
          </p:cNvPr>
          <p:cNvSpPr/>
          <p:nvPr/>
        </p:nvSpPr>
        <p:spPr>
          <a:xfrm>
            <a:off x="0" y="0"/>
            <a:ext cx="12192000" cy="925286"/>
          </a:xfrm>
          <a:prstGeom prst="rect">
            <a:avLst/>
          </a:prstGeom>
          <a:gradFill>
            <a:gsLst>
              <a:gs pos="32000">
                <a:srgbClr val="52C2BC">
                  <a:alpha val="50000"/>
                </a:srgbClr>
              </a:gs>
              <a:gs pos="72000">
                <a:srgbClr val="40B8B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5FFE2213-E7A0-801C-7841-B4E6FB87390A}"/>
              </a:ext>
            </a:extLst>
          </p:cNvPr>
          <p:cNvSpPr/>
          <p:nvPr/>
        </p:nvSpPr>
        <p:spPr>
          <a:xfrm>
            <a:off x="3182814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1268A8CA-BD68-ABEE-5708-C0D537DB4A6E}"/>
              </a:ext>
            </a:extLst>
          </p:cNvPr>
          <p:cNvSpPr/>
          <p:nvPr/>
        </p:nvSpPr>
        <p:spPr>
          <a:xfrm>
            <a:off x="5417788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>
            <a:extLst>
              <a:ext uri="{FF2B5EF4-FFF2-40B4-BE49-F238E27FC236}">
                <a16:creationId xmlns:a16="http://schemas.microsoft.com/office/drawing/2014/main" id="{08136FFC-B7A2-88C3-5D95-1A4CE861469C}"/>
              </a:ext>
            </a:extLst>
          </p:cNvPr>
          <p:cNvSpPr/>
          <p:nvPr/>
        </p:nvSpPr>
        <p:spPr>
          <a:xfrm>
            <a:off x="7652762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平行四边形 8">
            <a:extLst>
              <a:ext uri="{FF2B5EF4-FFF2-40B4-BE49-F238E27FC236}">
                <a16:creationId xmlns:a16="http://schemas.microsoft.com/office/drawing/2014/main" id="{A2F14968-A4C9-FA1E-D99E-6C180031351E}"/>
              </a:ext>
            </a:extLst>
          </p:cNvPr>
          <p:cNvSpPr/>
          <p:nvPr/>
        </p:nvSpPr>
        <p:spPr>
          <a:xfrm>
            <a:off x="9887736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>
            <a:extLst>
              <a:ext uri="{FF2B5EF4-FFF2-40B4-BE49-F238E27FC236}">
                <a16:creationId xmlns:a16="http://schemas.microsoft.com/office/drawing/2014/main" id="{8E108AB0-2B90-0B0A-E38E-F63B609CD7D5}"/>
              </a:ext>
            </a:extLst>
          </p:cNvPr>
          <p:cNvSpPr/>
          <p:nvPr/>
        </p:nvSpPr>
        <p:spPr>
          <a:xfrm>
            <a:off x="9887736" y="370968"/>
            <a:ext cx="2108811" cy="688554"/>
          </a:xfrm>
          <a:prstGeom prst="parallelogram">
            <a:avLst/>
          </a:prstGeom>
          <a:solidFill>
            <a:srgbClr val="36A09A"/>
          </a:solidFill>
          <a:ln>
            <a:solidFill>
              <a:srgbClr val="36A0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50" b="1"/>
              <a:t>试点落地原则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0161F6F0-15E3-CEFF-36F7-3A0B3DD64D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6" y="132202"/>
            <a:ext cx="532967" cy="539826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A6D81D73-D7B1-86C9-75B6-E9B3752173BE}"/>
              </a:ext>
            </a:extLst>
          </p:cNvPr>
          <p:cNvSpPr txBox="1"/>
          <p:nvPr/>
        </p:nvSpPr>
        <p:spPr>
          <a:xfrm>
            <a:off x="599503" y="137792"/>
            <a:ext cx="28047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104862"/>
                </a:solidFill>
              </a:rPr>
              <a:t>工银‘’碳跃智衡’’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C5009DD-8F48-0569-DBEB-0122D4D1E9F9}"/>
              </a:ext>
            </a:extLst>
          </p:cNvPr>
          <p:cNvSpPr/>
          <p:nvPr/>
        </p:nvSpPr>
        <p:spPr>
          <a:xfrm>
            <a:off x="2145349" y="1211854"/>
            <a:ext cx="4843280" cy="580616"/>
          </a:xfrm>
          <a:prstGeom prst="roundRect">
            <a:avLst/>
          </a:prstGeom>
          <a:gradFill>
            <a:gsLst>
              <a:gs pos="32000">
                <a:srgbClr val="52C2BC">
                  <a:alpha val="50000"/>
                </a:srgbClr>
              </a:gs>
              <a:gs pos="72000">
                <a:srgbClr val="40B8B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zh-CN" altLang="en-US" sz="2000" b="1">
                <a:solidFill>
                  <a:schemeClr val="tx1"/>
                </a:solidFill>
              </a:rPr>
              <a:t>首期试点聚焦于钢铁、建材两大高碳行业</a:t>
            </a:r>
            <a:endParaRPr lang="zh-CN" altLang="zh-CN" sz="2000">
              <a:solidFill>
                <a:schemeClr val="tx1"/>
              </a:solidFill>
            </a:endParaRPr>
          </a:p>
        </p:txBody>
      </p:sp>
      <p:sp>
        <p:nvSpPr>
          <p:cNvPr id="22" name="矩形: 对角圆角 21">
            <a:extLst>
              <a:ext uri="{FF2B5EF4-FFF2-40B4-BE49-F238E27FC236}">
                <a16:creationId xmlns:a16="http://schemas.microsoft.com/office/drawing/2014/main" id="{5491022A-55CB-C084-6966-A6C2E8551BEE}"/>
              </a:ext>
            </a:extLst>
          </p:cNvPr>
          <p:cNvSpPr/>
          <p:nvPr/>
        </p:nvSpPr>
        <p:spPr>
          <a:xfrm>
            <a:off x="66536" y="1193757"/>
            <a:ext cx="1970314" cy="598713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>
                <a:solidFill>
                  <a:schemeClr val="tx1"/>
                </a:solidFill>
              </a:rPr>
              <a:t>试点行业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08FE6FAA-E506-EA80-8FD7-7A2AFEA1EEB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4" t="17671" r="30426" b="10158"/>
          <a:stretch>
            <a:fillRect/>
          </a:stretch>
        </p:blipFill>
        <p:spPr>
          <a:xfrm>
            <a:off x="914400" y="1941197"/>
            <a:ext cx="5181600" cy="4659267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02D2AD28-3680-6CFC-7580-77C860653233}"/>
              </a:ext>
            </a:extLst>
          </p:cNvPr>
          <p:cNvSpPr txBox="1"/>
          <p:nvPr/>
        </p:nvSpPr>
        <p:spPr>
          <a:xfrm>
            <a:off x="5573591" y="2038490"/>
            <a:ext cx="24947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钢铁、建材行业</a:t>
            </a:r>
            <a:endParaRPr lang="en-US" altLang="zh-CN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zh-CN" altLang="en-US" sz="2000" b="1"/>
              <a:t>首期研究对象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A36472A-A62B-87FD-DD7D-CA81FA5DD777}"/>
              </a:ext>
            </a:extLst>
          </p:cNvPr>
          <p:cNvSpPr txBox="1"/>
          <p:nvPr/>
        </p:nvSpPr>
        <p:spPr>
          <a:xfrm>
            <a:off x="6356423" y="3199271"/>
            <a:ext cx="484948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>
                <a:solidFill>
                  <a:schemeClr val="accent3"/>
                </a:solidFill>
              </a:rPr>
              <a:t>行业碳核算、能耗指标标准较统一</a:t>
            </a:r>
            <a:endParaRPr lang="en-US" altLang="zh-CN" sz="2400" b="1">
              <a:solidFill>
                <a:schemeClr val="accent3"/>
              </a:solidFill>
            </a:endParaRPr>
          </a:p>
          <a:p>
            <a:r>
              <a:rPr lang="zh-CN" altLang="en-US" sz="2000" b="1"/>
              <a:t>模型测算口径清晰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69059F2-1C8E-5CFD-86E3-38BE33B7BE2F}"/>
              </a:ext>
            </a:extLst>
          </p:cNvPr>
          <p:cNvSpPr txBox="1"/>
          <p:nvPr/>
        </p:nvSpPr>
        <p:spPr>
          <a:xfrm>
            <a:off x="6194076" y="4360052"/>
            <a:ext cx="392427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zh-CN" altLang="en-US" sz="2400" b="1">
                <a:solidFill>
                  <a:schemeClr val="accent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产业园区聚集度高</a:t>
            </a:r>
            <a:endParaRPr lang="zh-CN" altLang="zh-CN">
              <a:solidFill>
                <a:schemeClr val="accent1"/>
              </a:solidFill>
              <a:effectLst/>
            </a:endParaRPr>
          </a:p>
          <a:p>
            <a:pPr marL="0" algn="l" rtl="0" eaLnBrk="1" latinLnBrk="0" hangingPunct="1">
              <a:buNone/>
            </a:pPr>
            <a:r>
              <a:rPr lang="zh-CN" altLang="en-US" sz="2000" b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适配园区链式风险传导算法验证</a:t>
            </a:r>
            <a:endParaRPr lang="zh-CN" altLang="zh-CN">
              <a:effectLst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BB18C31-A65C-A412-6BAF-59506633C42E}"/>
              </a:ext>
            </a:extLst>
          </p:cNvPr>
          <p:cNvSpPr txBox="1"/>
          <p:nvPr/>
        </p:nvSpPr>
        <p:spPr>
          <a:xfrm>
            <a:off x="5678185" y="5646146"/>
            <a:ext cx="59762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zh-CN" altLang="en-US" sz="2400" b="1">
                <a:solidFill>
                  <a:schemeClr val="tx2">
                    <a:lumMod val="50000"/>
                    <a:lumOff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工行已有钢铁行业可持续挂钩贷款落地实践</a:t>
            </a:r>
            <a:endParaRPr lang="zh-CN" altLang="zh-CN">
              <a:solidFill>
                <a:schemeClr val="tx2">
                  <a:lumMod val="50000"/>
                  <a:lumOff val="50000"/>
                </a:schemeClr>
              </a:solidFill>
              <a:effectLst/>
            </a:endParaRPr>
          </a:p>
          <a:p>
            <a:pPr marL="0" algn="l" rtl="0" eaLnBrk="1" latinLnBrk="0" hangingPunct="1">
              <a:buNone/>
            </a:pPr>
            <a:r>
              <a:rPr lang="zh-CN" altLang="en-US" sz="2000" b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业务基础匹配</a:t>
            </a:r>
            <a:endParaRPr lang="zh-CN" altLang="zh-CN">
              <a:effectLst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7FBD3C9-C47B-AA66-EE42-B50A67AAA17A}"/>
              </a:ext>
            </a:extLst>
          </p:cNvPr>
          <p:cNvSpPr txBox="1"/>
          <p:nvPr/>
        </p:nvSpPr>
        <p:spPr>
          <a:xfrm>
            <a:off x="1474936" y="2192377"/>
            <a:ext cx="26857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2">
                    <a:lumMod val="75000"/>
                    <a:lumOff val="25000"/>
                  </a:schemeClr>
                </a:solidFill>
              </a:rPr>
              <a:t>试点目标及原因</a:t>
            </a:r>
          </a:p>
        </p:txBody>
      </p:sp>
    </p:spTree>
    <p:extLst>
      <p:ext uri="{BB962C8B-B14F-4D97-AF65-F5344CB8AC3E}">
        <p14:creationId xmlns:p14="http://schemas.microsoft.com/office/powerpoint/2010/main" val="2550547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DCEA61-944A-1DF7-1433-E4744A0B1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6A43FE08-D3E2-93D6-5F75-62F5BCB412C6}"/>
              </a:ext>
            </a:extLst>
          </p:cNvPr>
          <p:cNvSpPr txBox="1"/>
          <p:nvPr/>
        </p:nvSpPr>
        <p:spPr>
          <a:xfrm>
            <a:off x="3563257" y="2475936"/>
            <a:ext cx="506548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/>
              <a:t> </a:t>
            </a:r>
            <a:r>
              <a:rPr lang="zh-CN" altLang="en-US" sz="8000" b="1">
                <a:solidFill>
                  <a:schemeClr val="accent4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产品介绍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BAD45D9-A043-0399-B4F3-C77FBC822E26}"/>
              </a:ext>
            </a:extLst>
          </p:cNvPr>
          <p:cNvSpPr txBox="1"/>
          <p:nvPr/>
        </p:nvSpPr>
        <p:spPr>
          <a:xfrm>
            <a:off x="4274456" y="1644939"/>
            <a:ext cx="39624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>
                <a:solidFill>
                  <a:schemeClr val="accent4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PART TWO</a:t>
            </a:r>
            <a:endParaRPr lang="zh-CN" altLang="en-US" sz="4800" b="1">
              <a:solidFill>
                <a:schemeClr val="accent4">
                  <a:lumMod val="50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8711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078A4-B130-3125-DE0D-A255F671D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0268CDE-CD2E-BEC1-388E-F29554BAC128}"/>
              </a:ext>
            </a:extLst>
          </p:cNvPr>
          <p:cNvSpPr/>
          <p:nvPr/>
        </p:nvSpPr>
        <p:spPr>
          <a:xfrm>
            <a:off x="0" y="0"/>
            <a:ext cx="12192000" cy="925286"/>
          </a:xfrm>
          <a:prstGeom prst="rect">
            <a:avLst/>
          </a:prstGeom>
          <a:gradFill>
            <a:gsLst>
              <a:gs pos="32000">
                <a:srgbClr val="52C2BC">
                  <a:alpha val="50000"/>
                </a:srgbClr>
              </a:gs>
              <a:gs pos="72000">
                <a:srgbClr val="40B8B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E3BA7953-448F-D6EA-C9A1-4373617D5D07}"/>
              </a:ext>
            </a:extLst>
          </p:cNvPr>
          <p:cNvSpPr/>
          <p:nvPr/>
        </p:nvSpPr>
        <p:spPr>
          <a:xfrm>
            <a:off x="3182814" y="523301"/>
            <a:ext cx="2027103" cy="539826"/>
          </a:xfrm>
          <a:prstGeom prst="parallelogram">
            <a:avLst/>
          </a:prstGeom>
          <a:solidFill>
            <a:schemeClr val="bg1"/>
          </a:solidFill>
          <a:ln>
            <a:solidFill>
              <a:srgbClr val="36A0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46585694-39AB-B040-65AB-1F35A6EC7642}"/>
              </a:ext>
            </a:extLst>
          </p:cNvPr>
          <p:cNvSpPr/>
          <p:nvPr/>
        </p:nvSpPr>
        <p:spPr>
          <a:xfrm>
            <a:off x="5417788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>
            <a:extLst>
              <a:ext uri="{FF2B5EF4-FFF2-40B4-BE49-F238E27FC236}">
                <a16:creationId xmlns:a16="http://schemas.microsoft.com/office/drawing/2014/main" id="{1A560EDE-5144-9A1A-B398-A884F11AB52F}"/>
              </a:ext>
            </a:extLst>
          </p:cNvPr>
          <p:cNvSpPr/>
          <p:nvPr/>
        </p:nvSpPr>
        <p:spPr>
          <a:xfrm>
            <a:off x="7652762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平行四边形 8">
            <a:extLst>
              <a:ext uri="{FF2B5EF4-FFF2-40B4-BE49-F238E27FC236}">
                <a16:creationId xmlns:a16="http://schemas.microsoft.com/office/drawing/2014/main" id="{A5AB49C2-8892-471C-F5BC-D478A34064CD}"/>
              </a:ext>
            </a:extLst>
          </p:cNvPr>
          <p:cNvSpPr/>
          <p:nvPr/>
        </p:nvSpPr>
        <p:spPr>
          <a:xfrm>
            <a:off x="9887736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>
            <a:extLst>
              <a:ext uri="{FF2B5EF4-FFF2-40B4-BE49-F238E27FC236}">
                <a16:creationId xmlns:a16="http://schemas.microsoft.com/office/drawing/2014/main" id="{439CFEF2-5635-E53E-A2B7-70D47C9105EB}"/>
              </a:ext>
            </a:extLst>
          </p:cNvPr>
          <p:cNvSpPr/>
          <p:nvPr/>
        </p:nvSpPr>
        <p:spPr>
          <a:xfrm>
            <a:off x="3141959" y="374573"/>
            <a:ext cx="2108811" cy="688554"/>
          </a:xfrm>
          <a:prstGeom prst="parallelogram">
            <a:avLst/>
          </a:prstGeom>
          <a:solidFill>
            <a:srgbClr val="36A09A"/>
          </a:solidFill>
          <a:ln>
            <a:solidFill>
              <a:srgbClr val="36A0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/>
              <a:t>功能架构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3DDD5F07-13FB-588F-B1C0-80447B1AF7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6" y="132202"/>
            <a:ext cx="532967" cy="539826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939FD06E-7CAB-FF53-F91B-E2471B5FECF2}"/>
              </a:ext>
            </a:extLst>
          </p:cNvPr>
          <p:cNvSpPr txBox="1"/>
          <p:nvPr/>
        </p:nvSpPr>
        <p:spPr>
          <a:xfrm>
            <a:off x="599503" y="137792"/>
            <a:ext cx="28047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104862"/>
                </a:solidFill>
              </a:rPr>
              <a:t>工银‘’碳跃智衡’’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4036A1AC-A77C-0A2B-DC0E-067C3F07057D}"/>
              </a:ext>
            </a:extLst>
          </p:cNvPr>
          <p:cNvSpPr/>
          <p:nvPr/>
        </p:nvSpPr>
        <p:spPr>
          <a:xfrm>
            <a:off x="2145349" y="1211854"/>
            <a:ext cx="2807651" cy="580616"/>
          </a:xfrm>
          <a:prstGeom prst="roundRect">
            <a:avLst/>
          </a:prstGeom>
          <a:gradFill>
            <a:gsLst>
              <a:gs pos="32000">
                <a:srgbClr val="52C2BC">
                  <a:alpha val="50000"/>
                </a:srgbClr>
              </a:gs>
              <a:gs pos="72000">
                <a:srgbClr val="40B8B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zh-CN" altLang="en-US" sz="2000" b="1">
                <a:solidFill>
                  <a:schemeClr val="tx1"/>
                </a:solidFill>
              </a:rPr>
              <a:t>双端产品主要功能梳理</a:t>
            </a:r>
            <a:endParaRPr lang="zh-CN" altLang="zh-CN" sz="2000">
              <a:solidFill>
                <a:schemeClr val="tx1"/>
              </a:solidFill>
            </a:endParaRPr>
          </a:p>
        </p:txBody>
      </p:sp>
      <p:sp>
        <p:nvSpPr>
          <p:cNvPr id="22" name="矩形: 对角圆角 21">
            <a:extLst>
              <a:ext uri="{FF2B5EF4-FFF2-40B4-BE49-F238E27FC236}">
                <a16:creationId xmlns:a16="http://schemas.microsoft.com/office/drawing/2014/main" id="{882F2984-148A-BF26-A17E-340744ABDA7C}"/>
              </a:ext>
            </a:extLst>
          </p:cNvPr>
          <p:cNvSpPr/>
          <p:nvPr/>
        </p:nvSpPr>
        <p:spPr>
          <a:xfrm>
            <a:off x="66536" y="1193757"/>
            <a:ext cx="1970314" cy="598713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>
                <a:solidFill>
                  <a:schemeClr val="tx1"/>
                </a:solidFill>
              </a:rPr>
              <a:t>功能概览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2F54D30-7273-681F-C0E1-A4B1D3BD75A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88" r="61510" b="11330"/>
          <a:stretch>
            <a:fillRect/>
          </a:stretch>
        </p:blipFill>
        <p:spPr>
          <a:xfrm>
            <a:off x="371429" y="1952082"/>
            <a:ext cx="4879341" cy="4560327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E690A5CB-8A8F-30F2-3530-60D1FB83F8DE}"/>
              </a:ext>
            </a:extLst>
          </p:cNvPr>
          <p:cNvSpPr txBox="1"/>
          <p:nvPr/>
        </p:nvSpPr>
        <p:spPr>
          <a:xfrm>
            <a:off x="276092" y="2819133"/>
            <a:ext cx="397328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spc="-150">
                <a:solidFill>
                  <a:schemeClr val="accent1"/>
                </a:solidFill>
              </a:rPr>
              <a:t>提交全面的转型计划、能耗、碳排放和技术项目执行数据</a:t>
            </a:r>
          </a:p>
          <a:p>
            <a:r>
              <a:rPr lang="zh-CN" altLang="en-US" sz="1600" spc="-150"/>
              <a:t>运营报告</a:t>
            </a:r>
            <a:endParaRPr lang="en-US" altLang="zh-CN" sz="1600" spc="-150"/>
          </a:p>
          <a:p>
            <a:endParaRPr lang="zh-CN" altLang="en-US" sz="1600" b="1" spc="-150">
              <a:solidFill>
                <a:schemeClr val="accent1"/>
              </a:solidFill>
            </a:endParaRPr>
          </a:p>
          <a:p>
            <a:r>
              <a:rPr lang="zh-CN" altLang="en-US" sz="1600" b="1" spc="-150">
                <a:solidFill>
                  <a:schemeClr val="accent1"/>
                </a:solidFill>
              </a:rPr>
              <a:t>查看个人转型账户、战略路径和减排绩效指标</a:t>
            </a:r>
          </a:p>
          <a:p>
            <a:r>
              <a:rPr lang="zh-CN" altLang="en-US" sz="1600" spc="-150"/>
              <a:t>自我评估跟踪</a:t>
            </a:r>
            <a:endParaRPr lang="en-US" altLang="zh-CN" sz="1600" spc="-150"/>
          </a:p>
          <a:p>
            <a:endParaRPr lang="zh-CN" altLang="en-US" sz="1600" b="1" spc="-150">
              <a:solidFill>
                <a:schemeClr val="accent1"/>
              </a:solidFill>
            </a:endParaRPr>
          </a:p>
          <a:p>
            <a:r>
              <a:rPr lang="zh-CN" altLang="en-US" sz="1600" b="1" spc="-150">
                <a:solidFill>
                  <a:schemeClr val="accent1"/>
                </a:solidFill>
              </a:rPr>
              <a:t>获取平台生成的关于自身转型状况的可信度评估</a:t>
            </a:r>
          </a:p>
          <a:p>
            <a:r>
              <a:rPr lang="zh-CN" altLang="en-US" sz="1600" spc="-150"/>
              <a:t>内部可信度评级</a:t>
            </a:r>
            <a:endParaRPr lang="en-US" altLang="zh-CN" sz="1600" spc="-150"/>
          </a:p>
          <a:p>
            <a:endParaRPr lang="zh-CN" altLang="en-US" sz="1600" b="1" spc="-150">
              <a:solidFill>
                <a:schemeClr val="accent1"/>
              </a:solidFill>
            </a:endParaRPr>
          </a:p>
          <a:p>
            <a:r>
              <a:rPr lang="zh-CN" altLang="en-US" sz="1600" b="1" spc="-150">
                <a:solidFill>
                  <a:schemeClr val="accent1"/>
                </a:solidFill>
              </a:rPr>
              <a:t>获取平台生成的参考融资方案，包括贷款额度和利率区间</a:t>
            </a:r>
          </a:p>
          <a:p>
            <a:r>
              <a:rPr lang="zh-CN" altLang="en-US" sz="1600" spc="-150"/>
              <a:t>转型融资指导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A6D1A268-DDCC-5671-E088-5C47376B382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82" t="8288" r="4827" b="11330"/>
          <a:stretch>
            <a:fillRect/>
          </a:stretch>
        </p:blipFill>
        <p:spPr>
          <a:xfrm>
            <a:off x="7035499" y="1952082"/>
            <a:ext cx="4879340" cy="4560327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AB9FFB7-C5B6-F935-AED6-5E365F43C457}"/>
              </a:ext>
            </a:extLst>
          </p:cNvPr>
          <p:cNvSpPr txBox="1"/>
          <p:nvPr/>
        </p:nvSpPr>
        <p:spPr>
          <a:xfrm>
            <a:off x="8109962" y="2819133"/>
            <a:ext cx="397328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chemeClr val="accent3"/>
                </a:solidFill>
              </a:rPr>
              <a:t>接收并核验所有提交的转型业务材料和文件</a:t>
            </a:r>
          </a:p>
          <a:p>
            <a:r>
              <a:rPr lang="zh-CN" altLang="en-US" sz="1600"/>
              <a:t>合规性验证</a:t>
            </a:r>
            <a:endParaRPr lang="en-US" altLang="zh-CN" sz="1600"/>
          </a:p>
          <a:p>
            <a:endParaRPr lang="zh-CN" altLang="en-US" sz="1600" b="1">
              <a:solidFill>
                <a:schemeClr val="accent3"/>
              </a:solidFill>
            </a:endParaRPr>
          </a:p>
          <a:p>
            <a:r>
              <a:rPr lang="zh-CN" altLang="en-US" sz="1600" b="1">
                <a:solidFill>
                  <a:schemeClr val="accent3"/>
                </a:solidFill>
              </a:rPr>
              <a:t>开展企业转型真实性评估并进行园区关联风险分析</a:t>
            </a:r>
          </a:p>
          <a:p>
            <a:r>
              <a:rPr lang="zh-CN" altLang="en-US" sz="1600"/>
              <a:t>转型评估与园区组合风险管理</a:t>
            </a:r>
            <a:endParaRPr lang="en-US" altLang="zh-CN" sz="1600"/>
          </a:p>
          <a:p>
            <a:endParaRPr lang="zh-CN" altLang="en-US" sz="1600" b="1">
              <a:solidFill>
                <a:schemeClr val="accent3"/>
              </a:solidFill>
            </a:endParaRPr>
          </a:p>
          <a:p>
            <a:r>
              <a:rPr lang="zh-CN" altLang="en-US" sz="1600" b="1">
                <a:solidFill>
                  <a:schemeClr val="accent3"/>
                </a:solidFill>
              </a:rPr>
              <a:t>执行动态融资授信评估并确定定价参考结果</a:t>
            </a:r>
          </a:p>
          <a:p>
            <a:r>
              <a:rPr lang="zh-CN" altLang="en-US" sz="1600"/>
              <a:t>动态融资测算，恪守银行风险</a:t>
            </a:r>
            <a:r>
              <a:rPr lang="en-US" altLang="zh-CN" sz="1600"/>
              <a:t>‑</a:t>
            </a:r>
            <a:r>
              <a:rPr lang="zh-CN" altLang="en-US" sz="1600"/>
              <a:t>收益底线</a:t>
            </a:r>
            <a:endParaRPr lang="en-US" altLang="zh-CN" sz="1600"/>
          </a:p>
          <a:p>
            <a:endParaRPr lang="zh-CN" altLang="en-US" sz="1600" b="1">
              <a:solidFill>
                <a:schemeClr val="accent3"/>
              </a:solidFill>
            </a:endParaRPr>
          </a:p>
          <a:p>
            <a:r>
              <a:rPr lang="zh-CN" altLang="en-US" sz="1600" b="1">
                <a:solidFill>
                  <a:schemeClr val="accent3"/>
                </a:solidFill>
              </a:rPr>
              <a:t>实现贷后企业转型进度监控并设置风险预警</a:t>
            </a:r>
          </a:p>
          <a:p>
            <a:r>
              <a:rPr lang="zh-CN" altLang="en-US" sz="1600"/>
              <a:t>生命周期贷款监管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38A9EB8-A906-15BE-D635-759AA8FCD3EB}"/>
              </a:ext>
            </a:extLst>
          </p:cNvPr>
          <p:cNvSpPr txBox="1"/>
          <p:nvPr/>
        </p:nvSpPr>
        <p:spPr>
          <a:xfrm>
            <a:off x="5209917" y="2819133"/>
            <a:ext cx="189865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/>
              <a:t>主要数据输入</a:t>
            </a:r>
            <a:endParaRPr lang="en-US" altLang="zh-CN" sz="1600" b="1"/>
          </a:p>
          <a:p>
            <a:pPr algn="ctr"/>
            <a:endParaRPr lang="en-US" altLang="zh-CN" sz="1600" b="1"/>
          </a:p>
          <a:p>
            <a:pPr algn="ctr"/>
            <a:endParaRPr lang="en-US" altLang="zh-CN" sz="1600" b="1"/>
          </a:p>
          <a:p>
            <a:pPr algn="ctr"/>
            <a:endParaRPr lang="zh-CN" altLang="en-US" sz="1600" b="1"/>
          </a:p>
          <a:p>
            <a:pPr algn="ctr"/>
            <a:r>
              <a:rPr lang="zh-CN" altLang="en-US" sz="1600" b="1"/>
              <a:t>绩效与风险分析</a:t>
            </a:r>
            <a:endParaRPr lang="en-US" altLang="zh-CN" sz="1600" b="1"/>
          </a:p>
          <a:p>
            <a:pPr algn="ctr"/>
            <a:endParaRPr lang="en-US" altLang="zh-CN" sz="1600" b="1"/>
          </a:p>
          <a:p>
            <a:pPr algn="ctr"/>
            <a:endParaRPr lang="en-US" altLang="zh-CN" sz="1600" b="1"/>
          </a:p>
          <a:p>
            <a:pPr algn="ctr"/>
            <a:endParaRPr lang="zh-CN" altLang="en-US" sz="1600" b="1"/>
          </a:p>
          <a:p>
            <a:pPr algn="ctr"/>
            <a:r>
              <a:rPr lang="zh-CN" altLang="en-US" sz="1600" b="1"/>
              <a:t>评估与融资测算</a:t>
            </a:r>
            <a:endParaRPr lang="en-US" altLang="zh-CN" sz="1600" b="1"/>
          </a:p>
          <a:p>
            <a:pPr algn="ctr"/>
            <a:endParaRPr lang="en-US" altLang="zh-CN" sz="1600" b="1"/>
          </a:p>
          <a:p>
            <a:pPr algn="ctr"/>
            <a:endParaRPr lang="zh-CN" altLang="en-US" sz="1600" b="1"/>
          </a:p>
          <a:p>
            <a:pPr algn="ctr"/>
            <a:r>
              <a:rPr lang="zh-CN" altLang="en-US" sz="1600" b="1"/>
              <a:t>财务与监控结果</a:t>
            </a:r>
            <a:endParaRPr lang="en-US" altLang="zh-CN" sz="1600" b="1"/>
          </a:p>
        </p:txBody>
      </p:sp>
    </p:spTree>
    <p:extLst>
      <p:ext uri="{BB962C8B-B14F-4D97-AF65-F5344CB8AC3E}">
        <p14:creationId xmlns:p14="http://schemas.microsoft.com/office/powerpoint/2010/main" val="3851127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91862-EA18-4FD9-A2BB-05413DB98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357AC1B-DE79-6BC8-E035-D855C6DA9D1C}"/>
              </a:ext>
            </a:extLst>
          </p:cNvPr>
          <p:cNvSpPr/>
          <p:nvPr/>
        </p:nvSpPr>
        <p:spPr>
          <a:xfrm>
            <a:off x="0" y="0"/>
            <a:ext cx="12192000" cy="925286"/>
          </a:xfrm>
          <a:prstGeom prst="rect">
            <a:avLst/>
          </a:prstGeom>
          <a:gradFill>
            <a:gsLst>
              <a:gs pos="32000">
                <a:srgbClr val="52C2BC">
                  <a:alpha val="50000"/>
                </a:srgbClr>
              </a:gs>
              <a:gs pos="72000">
                <a:srgbClr val="40B8B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C9FAD55A-FACB-BA18-9010-6D11572727E2}"/>
              </a:ext>
            </a:extLst>
          </p:cNvPr>
          <p:cNvSpPr/>
          <p:nvPr/>
        </p:nvSpPr>
        <p:spPr>
          <a:xfrm>
            <a:off x="3182814" y="523301"/>
            <a:ext cx="2027103" cy="539826"/>
          </a:xfrm>
          <a:prstGeom prst="parallelogram">
            <a:avLst/>
          </a:prstGeom>
          <a:solidFill>
            <a:schemeClr val="bg1"/>
          </a:solidFill>
          <a:ln>
            <a:solidFill>
              <a:srgbClr val="36A0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39C5CD0B-B77F-FC19-041B-46B0D492ED4C}"/>
              </a:ext>
            </a:extLst>
          </p:cNvPr>
          <p:cNvSpPr/>
          <p:nvPr/>
        </p:nvSpPr>
        <p:spPr>
          <a:xfrm>
            <a:off x="5417788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>
            <a:extLst>
              <a:ext uri="{FF2B5EF4-FFF2-40B4-BE49-F238E27FC236}">
                <a16:creationId xmlns:a16="http://schemas.microsoft.com/office/drawing/2014/main" id="{89AA4F5F-CFB4-1DE0-6007-E64DE0AC29A4}"/>
              </a:ext>
            </a:extLst>
          </p:cNvPr>
          <p:cNvSpPr/>
          <p:nvPr/>
        </p:nvSpPr>
        <p:spPr>
          <a:xfrm>
            <a:off x="7652762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平行四边形 8">
            <a:extLst>
              <a:ext uri="{FF2B5EF4-FFF2-40B4-BE49-F238E27FC236}">
                <a16:creationId xmlns:a16="http://schemas.microsoft.com/office/drawing/2014/main" id="{428FB7B8-578D-7ABB-70A7-0367C882DB63}"/>
              </a:ext>
            </a:extLst>
          </p:cNvPr>
          <p:cNvSpPr/>
          <p:nvPr/>
        </p:nvSpPr>
        <p:spPr>
          <a:xfrm>
            <a:off x="9887736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>
            <a:extLst>
              <a:ext uri="{FF2B5EF4-FFF2-40B4-BE49-F238E27FC236}">
                <a16:creationId xmlns:a16="http://schemas.microsoft.com/office/drawing/2014/main" id="{67CBF784-BC9E-E7BA-64BC-D6259C243B35}"/>
              </a:ext>
            </a:extLst>
          </p:cNvPr>
          <p:cNvSpPr/>
          <p:nvPr/>
        </p:nvSpPr>
        <p:spPr>
          <a:xfrm>
            <a:off x="3141959" y="374573"/>
            <a:ext cx="2108811" cy="688554"/>
          </a:xfrm>
          <a:prstGeom prst="parallelogram">
            <a:avLst/>
          </a:prstGeom>
          <a:solidFill>
            <a:srgbClr val="36A09A"/>
          </a:solidFill>
          <a:ln>
            <a:solidFill>
              <a:srgbClr val="36A0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/>
              <a:t>功能架构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35188E69-9808-3DDA-9951-40F805EE9B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6" y="132202"/>
            <a:ext cx="532967" cy="539826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04DD566E-285F-3121-658A-75FA12C137A4}"/>
              </a:ext>
            </a:extLst>
          </p:cNvPr>
          <p:cNvSpPr txBox="1"/>
          <p:nvPr/>
        </p:nvSpPr>
        <p:spPr>
          <a:xfrm>
            <a:off x="599503" y="137792"/>
            <a:ext cx="28047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104862"/>
                </a:solidFill>
              </a:rPr>
              <a:t>工银‘’碳跃智衡’’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2D434D2-46C6-4736-AE67-37EE67254FCE}"/>
              </a:ext>
            </a:extLst>
          </p:cNvPr>
          <p:cNvSpPr/>
          <p:nvPr/>
        </p:nvSpPr>
        <p:spPr>
          <a:xfrm>
            <a:off x="2145349" y="1211854"/>
            <a:ext cx="3678508" cy="580616"/>
          </a:xfrm>
          <a:prstGeom prst="roundRect">
            <a:avLst/>
          </a:prstGeom>
          <a:gradFill>
            <a:gsLst>
              <a:gs pos="32000">
                <a:srgbClr val="52C2BC">
                  <a:alpha val="50000"/>
                </a:srgbClr>
              </a:gs>
              <a:gs pos="72000">
                <a:srgbClr val="40B8B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zh-CN" altLang="en-US" sz="2000" b="1">
                <a:solidFill>
                  <a:schemeClr val="tx1"/>
                </a:solidFill>
              </a:rPr>
              <a:t>数据</a:t>
            </a:r>
            <a:r>
              <a:rPr lang="en-US" altLang="zh-CN" sz="2000" b="1">
                <a:solidFill>
                  <a:schemeClr val="tx1"/>
                </a:solidFill>
              </a:rPr>
              <a:t>‑</a:t>
            </a:r>
            <a:r>
              <a:rPr lang="zh-CN" altLang="en-US" sz="2000" b="1">
                <a:solidFill>
                  <a:schemeClr val="tx1"/>
                </a:solidFill>
              </a:rPr>
              <a:t>引擎</a:t>
            </a:r>
            <a:r>
              <a:rPr lang="en-US" altLang="zh-CN" sz="2000" b="1">
                <a:solidFill>
                  <a:schemeClr val="tx1"/>
                </a:solidFill>
              </a:rPr>
              <a:t>‑</a:t>
            </a:r>
            <a:r>
              <a:rPr lang="zh-CN" altLang="en-US" sz="2000" b="1">
                <a:solidFill>
                  <a:schemeClr val="tx1"/>
                </a:solidFill>
              </a:rPr>
              <a:t>输出</a:t>
            </a:r>
            <a:r>
              <a:rPr lang="en-US" altLang="zh-CN" sz="2000" b="1">
                <a:solidFill>
                  <a:schemeClr val="tx1"/>
                </a:solidFill>
              </a:rPr>
              <a:t>‑</a:t>
            </a:r>
            <a:r>
              <a:rPr lang="zh-CN" altLang="en-US" sz="2000" b="1">
                <a:solidFill>
                  <a:schemeClr val="tx1"/>
                </a:solidFill>
              </a:rPr>
              <a:t>应用完整链路</a:t>
            </a:r>
            <a:endParaRPr lang="zh-CN" altLang="zh-CN" sz="2000">
              <a:solidFill>
                <a:schemeClr val="tx1"/>
              </a:solidFill>
            </a:endParaRPr>
          </a:p>
        </p:txBody>
      </p:sp>
      <p:sp>
        <p:nvSpPr>
          <p:cNvPr id="22" name="矩形: 对角圆角 21">
            <a:extLst>
              <a:ext uri="{FF2B5EF4-FFF2-40B4-BE49-F238E27FC236}">
                <a16:creationId xmlns:a16="http://schemas.microsoft.com/office/drawing/2014/main" id="{DE9B1307-35F6-8D98-83CD-2D885029B4B0}"/>
              </a:ext>
            </a:extLst>
          </p:cNvPr>
          <p:cNvSpPr/>
          <p:nvPr/>
        </p:nvSpPr>
        <p:spPr>
          <a:xfrm>
            <a:off x="66536" y="1193757"/>
            <a:ext cx="1970314" cy="598713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>
                <a:solidFill>
                  <a:schemeClr val="tx1"/>
                </a:solidFill>
              </a:rPr>
              <a:t>总体架构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4514759-AE1A-84B8-5B68-F94D5D82DB1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30" b="25759"/>
          <a:stretch>
            <a:fillRect/>
          </a:stretch>
        </p:blipFill>
        <p:spPr>
          <a:xfrm>
            <a:off x="402771" y="2008887"/>
            <a:ext cx="11512068" cy="257096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BF182C2-36EA-8A0A-A655-043D131B7D3A}"/>
              </a:ext>
            </a:extLst>
          </p:cNvPr>
          <p:cNvSpPr txBox="1"/>
          <p:nvPr/>
        </p:nvSpPr>
        <p:spPr>
          <a:xfrm>
            <a:off x="1047681" y="3712667"/>
            <a:ext cx="24492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｜企业转型基础｜</a:t>
            </a:r>
            <a:endParaRPr lang="en-US" altLang="zh-CN" b="1"/>
          </a:p>
          <a:p>
            <a:r>
              <a:rPr lang="zh-CN" altLang="en-US" b="1"/>
              <a:t>｜能耗与碳绩效｜</a:t>
            </a:r>
            <a:endParaRPr lang="en-US" altLang="zh-CN" b="1"/>
          </a:p>
          <a:p>
            <a:r>
              <a:rPr lang="zh-CN" altLang="en-US" b="1"/>
              <a:t>｜项目执行｜</a:t>
            </a:r>
            <a:endParaRPr lang="en-US" altLang="zh-CN" b="1"/>
          </a:p>
          <a:p>
            <a:r>
              <a:rPr lang="zh-CN" altLang="en-US" b="1"/>
              <a:t>｜资金用途｜</a:t>
            </a:r>
            <a:endParaRPr lang="en-US" altLang="zh-CN" b="1"/>
          </a:p>
          <a:p>
            <a:r>
              <a:rPr lang="zh-CN" altLang="en-US" b="1"/>
              <a:t>｜园区关系｜</a:t>
            </a:r>
            <a:endParaRPr lang="en-US" altLang="zh-CN" b="1"/>
          </a:p>
          <a:p>
            <a:r>
              <a:rPr lang="zh-CN" altLang="en-US" b="1"/>
              <a:t>｜外部冲击｜</a:t>
            </a:r>
            <a:endParaRPr lang="en-US" altLang="zh-CN" b="1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13B57FC-60E0-327E-6C71-09CE18B40FC6}"/>
              </a:ext>
            </a:extLst>
          </p:cNvPr>
          <p:cNvSpPr txBox="1"/>
          <p:nvPr/>
        </p:nvSpPr>
        <p:spPr>
          <a:xfrm>
            <a:off x="3571487" y="4057605"/>
            <a:ext cx="236978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/>
              <a:t>①真实转型识别与可信度评估 </a:t>
            </a:r>
            <a:endParaRPr lang="en-US" altLang="zh-CN" sz="1800" b="1"/>
          </a:p>
          <a:p>
            <a:r>
              <a:rPr lang="zh-CN" altLang="en-US" sz="1800" b="1"/>
              <a:t>②园区关联风险传播 ③动态融资与定价决策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A61379A-E181-2051-B3BA-CC8A1F3E4D08}"/>
              </a:ext>
            </a:extLst>
          </p:cNvPr>
          <p:cNvSpPr txBox="1"/>
          <p:nvPr/>
        </p:nvSpPr>
        <p:spPr>
          <a:xfrm>
            <a:off x="6139648" y="4457781"/>
            <a:ext cx="271072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/>
              <a:t>｜</a:t>
            </a:r>
            <a:r>
              <a:rPr lang="zh-CN" altLang="en-US" sz="1800" b="1"/>
              <a:t>建议额度｜</a:t>
            </a:r>
            <a:endParaRPr lang="en-US" altLang="zh-CN" sz="1800" b="1"/>
          </a:p>
          <a:p>
            <a:r>
              <a:rPr lang="zh-CN" altLang="en-US" b="1"/>
              <a:t>｜</a:t>
            </a:r>
            <a:r>
              <a:rPr lang="zh-CN" altLang="en-US" sz="1800" b="1"/>
              <a:t>定价区间｜</a:t>
            </a:r>
            <a:endParaRPr lang="en-US" altLang="zh-CN" sz="1800" b="1"/>
          </a:p>
          <a:p>
            <a:r>
              <a:rPr lang="zh-CN" altLang="en-US" b="1"/>
              <a:t>｜</a:t>
            </a:r>
            <a:r>
              <a:rPr lang="zh-CN" altLang="en-US" sz="1800" b="1"/>
              <a:t>产品</a:t>
            </a:r>
            <a:r>
              <a:rPr lang="en-US" altLang="zh-CN" sz="1800" b="1"/>
              <a:t>/</a:t>
            </a:r>
            <a:r>
              <a:rPr lang="zh-CN" altLang="en-US" sz="1800" b="1"/>
              <a:t>场景匹配｜</a:t>
            </a:r>
            <a:endParaRPr lang="en-US" altLang="zh-CN" sz="1800" b="1"/>
          </a:p>
          <a:p>
            <a:r>
              <a:rPr lang="zh-CN" altLang="en-US" b="1"/>
              <a:t>｜</a:t>
            </a:r>
            <a:r>
              <a:rPr lang="zh-CN" altLang="en-US" sz="1800" b="1"/>
              <a:t>贷后预警与核查</a:t>
            </a:r>
            <a:r>
              <a:rPr lang="zh-CN" altLang="en-US" b="1"/>
              <a:t>动作｜</a:t>
            </a:r>
            <a:endParaRPr lang="en-US" altLang="zh-CN" b="1"/>
          </a:p>
          <a:p>
            <a:endParaRPr lang="zh-CN" altLang="en-US" sz="1800" b="1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1114804-A660-A22A-F29E-65605ABCEAFE}"/>
              </a:ext>
            </a:extLst>
          </p:cNvPr>
          <p:cNvSpPr txBox="1"/>
          <p:nvPr/>
        </p:nvSpPr>
        <p:spPr>
          <a:xfrm>
            <a:off x="8926570" y="4710748"/>
            <a:ext cx="236978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/>
              <a:t>①企</a:t>
            </a:r>
            <a:r>
              <a:rPr lang="zh-CN" altLang="en-US" sz="1800" b="1"/>
              <a:t>业端：转型账户与融资条件 </a:t>
            </a:r>
            <a:endParaRPr lang="en-US" altLang="zh-CN" sz="1800" b="1"/>
          </a:p>
          <a:p>
            <a:r>
              <a:rPr lang="zh-CN" altLang="en-US" b="1"/>
              <a:t>②银</a:t>
            </a:r>
            <a:r>
              <a:rPr lang="zh-CN" altLang="en-US" sz="1800" b="1"/>
              <a:t>行端：评估、审批、园区组合风控、压力测试</a:t>
            </a:r>
          </a:p>
        </p:txBody>
      </p:sp>
    </p:spTree>
    <p:extLst>
      <p:ext uri="{BB962C8B-B14F-4D97-AF65-F5344CB8AC3E}">
        <p14:creationId xmlns:p14="http://schemas.microsoft.com/office/powerpoint/2010/main" val="2382402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41E20-DC61-783D-AB16-CD4D54C47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C4D63E2-EE38-132E-13D0-8235C0C66A83}"/>
              </a:ext>
            </a:extLst>
          </p:cNvPr>
          <p:cNvSpPr/>
          <p:nvPr/>
        </p:nvSpPr>
        <p:spPr>
          <a:xfrm>
            <a:off x="0" y="0"/>
            <a:ext cx="12192000" cy="925286"/>
          </a:xfrm>
          <a:prstGeom prst="rect">
            <a:avLst/>
          </a:prstGeom>
          <a:gradFill>
            <a:gsLst>
              <a:gs pos="32000">
                <a:srgbClr val="52C2BC">
                  <a:alpha val="50000"/>
                </a:srgbClr>
              </a:gs>
              <a:gs pos="72000">
                <a:srgbClr val="40B8B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A9EB8DD0-9023-00C0-8942-1A60495B0CA2}"/>
              </a:ext>
            </a:extLst>
          </p:cNvPr>
          <p:cNvSpPr/>
          <p:nvPr/>
        </p:nvSpPr>
        <p:spPr>
          <a:xfrm>
            <a:off x="3182814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69C59706-4A93-0540-C80C-FA7867DE898F}"/>
              </a:ext>
            </a:extLst>
          </p:cNvPr>
          <p:cNvSpPr/>
          <p:nvPr/>
        </p:nvSpPr>
        <p:spPr>
          <a:xfrm>
            <a:off x="5417788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>
            <a:extLst>
              <a:ext uri="{FF2B5EF4-FFF2-40B4-BE49-F238E27FC236}">
                <a16:creationId xmlns:a16="http://schemas.microsoft.com/office/drawing/2014/main" id="{F015FC5F-566F-7871-2C9F-596E5C1E1DA9}"/>
              </a:ext>
            </a:extLst>
          </p:cNvPr>
          <p:cNvSpPr/>
          <p:nvPr/>
        </p:nvSpPr>
        <p:spPr>
          <a:xfrm>
            <a:off x="7652762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平行四边形 8">
            <a:extLst>
              <a:ext uri="{FF2B5EF4-FFF2-40B4-BE49-F238E27FC236}">
                <a16:creationId xmlns:a16="http://schemas.microsoft.com/office/drawing/2014/main" id="{263E1500-1615-DB33-4985-C6B9F6FF5697}"/>
              </a:ext>
            </a:extLst>
          </p:cNvPr>
          <p:cNvSpPr/>
          <p:nvPr/>
        </p:nvSpPr>
        <p:spPr>
          <a:xfrm>
            <a:off x="9887736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>
            <a:extLst>
              <a:ext uri="{FF2B5EF4-FFF2-40B4-BE49-F238E27FC236}">
                <a16:creationId xmlns:a16="http://schemas.microsoft.com/office/drawing/2014/main" id="{C4C1814D-043D-3F3F-C009-077B9B99A330}"/>
              </a:ext>
            </a:extLst>
          </p:cNvPr>
          <p:cNvSpPr/>
          <p:nvPr/>
        </p:nvSpPr>
        <p:spPr>
          <a:xfrm>
            <a:off x="5417788" y="380016"/>
            <a:ext cx="2108811" cy="688554"/>
          </a:xfrm>
          <a:prstGeom prst="parallelogram">
            <a:avLst/>
          </a:prstGeom>
          <a:solidFill>
            <a:srgbClr val="36A09A"/>
          </a:solidFill>
          <a:ln>
            <a:solidFill>
              <a:srgbClr val="36A0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/>
              <a:t>三大引擎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77BA2B52-2DDC-D27C-E524-2095EA8F85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6" y="132202"/>
            <a:ext cx="532967" cy="539826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463790A2-2AE9-78EF-42FF-43456A96FC49}"/>
              </a:ext>
            </a:extLst>
          </p:cNvPr>
          <p:cNvSpPr txBox="1"/>
          <p:nvPr/>
        </p:nvSpPr>
        <p:spPr>
          <a:xfrm>
            <a:off x="599503" y="137792"/>
            <a:ext cx="28047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104862"/>
                </a:solidFill>
              </a:rPr>
              <a:t>工银‘’碳跃智衡’’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53E923D-041D-14FA-8088-F45C2F0E02DA}"/>
              </a:ext>
            </a:extLst>
          </p:cNvPr>
          <p:cNvSpPr/>
          <p:nvPr/>
        </p:nvSpPr>
        <p:spPr>
          <a:xfrm>
            <a:off x="2145349" y="1211854"/>
            <a:ext cx="3809137" cy="580616"/>
          </a:xfrm>
          <a:prstGeom prst="roundRect">
            <a:avLst/>
          </a:prstGeom>
          <a:gradFill>
            <a:gsLst>
              <a:gs pos="32000">
                <a:srgbClr val="52C2BC">
                  <a:alpha val="50000"/>
                </a:srgbClr>
              </a:gs>
              <a:gs pos="72000">
                <a:srgbClr val="40B8B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zh-CN" altLang="en-US" sz="2000" b="1">
                <a:solidFill>
                  <a:schemeClr val="tx1"/>
                </a:solidFill>
              </a:rPr>
              <a:t>真实转型识别与可信度评估引擎</a:t>
            </a:r>
            <a:endParaRPr lang="zh-CN" altLang="zh-CN" sz="2000" b="1">
              <a:solidFill>
                <a:schemeClr val="tx1"/>
              </a:solidFill>
            </a:endParaRPr>
          </a:p>
        </p:txBody>
      </p:sp>
      <p:sp>
        <p:nvSpPr>
          <p:cNvPr id="22" name="矩形: 对角圆角 21">
            <a:extLst>
              <a:ext uri="{FF2B5EF4-FFF2-40B4-BE49-F238E27FC236}">
                <a16:creationId xmlns:a16="http://schemas.microsoft.com/office/drawing/2014/main" id="{3A2B2957-1290-CEBA-85CF-04F6FE9937FB}"/>
              </a:ext>
            </a:extLst>
          </p:cNvPr>
          <p:cNvSpPr/>
          <p:nvPr/>
        </p:nvSpPr>
        <p:spPr>
          <a:xfrm>
            <a:off x="66536" y="1193757"/>
            <a:ext cx="1970314" cy="598713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>
                <a:solidFill>
                  <a:schemeClr val="tx1"/>
                </a:solidFill>
              </a:rPr>
              <a:t>引擎一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FD506C3-AC0F-30B9-9D99-DD0F9D2A272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62" t="8216" r="27317" b="13824"/>
          <a:stretch>
            <a:fillRect/>
          </a:stretch>
        </p:blipFill>
        <p:spPr>
          <a:xfrm>
            <a:off x="5417788" y="1777911"/>
            <a:ext cx="6020053" cy="489135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67A3A56-5309-06B8-6CDF-EC45FBA0626A}"/>
              </a:ext>
            </a:extLst>
          </p:cNvPr>
          <p:cNvSpPr txBox="1"/>
          <p:nvPr/>
        </p:nvSpPr>
        <p:spPr>
          <a:xfrm>
            <a:off x="754159" y="2040180"/>
            <a:ext cx="48977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b="1">
                <a:solidFill>
                  <a:schemeClr val="accent1"/>
                </a:solidFill>
              </a:rPr>
              <a:t>LMDI</a:t>
            </a:r>
            <a:r>
              <a:rPr lang="zh-CN" altLang="en-US" b="1">
                <a:solidFill>
                  <a:schemeClr val="accent1"/>
                </a:solidFill>
              </a:rPr>
              <a:t>：先回答“减排从哪里来”</a:t>
            </a:r>
            <a:endParaRPr lang="en-US" altLang="zh-CN" b="1">
              <a:solidFill>
                <a:schemeClr val="accent1"/>
              </a:solidFill>
            </a:endParaRPr>
          </a:p>
          <a:p>
            <a:r>
              <a:rPr lang="zh-CN" altLang="en-US" b="1"/>
              <a:t>简化表达</a:t>
            </a:r>
            <a:r>
              <a:rPr lang="en-US" altLang="zh-CN" b="1"/>
              <a:t>：ΔC = ΔC_activity + </a:t>
            </a:r>
            <a:r>
              <a:rPr lang="en-US" altLang="zh-CN" b="1" err="1"/>
              <a:t>ΔC_intensity</a:t>
            </a:r>
            <a:r>
              <a:rPr lang="en-US" altLang="zh-CN" b="1"/>
              <a:t> + </a:t>
            </a:r>
            <a:r>
              <a:rPr lang="en-US" altLang="zh-CN" b="1" err="1"/>
              <a:t>ΔC_energy</a:t>
            </a:r>
            <a:r>
              <a:rPr lang="en-US" altLang="zh-CN" b="1"/>
              <a:t> + </a:t>
            </a:r>
            <a:r>
              <a:rPr lang="en-US" altLang="zh-CN" b="1" err="1"/>
              <a:t>ΔC_process</a:t>
            </a:r>
            <a:r>
              <a:rPr lang="en-US" altLang="zh-CN" b="1"/>
              <a:t>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F9212A-19C1-3E01-CE5F-63B345F16F43}"/>
              </a:ext>
            </a:extLst>
          </p:cNvPr>
          <p:cNvSpPr txBox="1"/>
          <p:nvPr/>
        </p:nvSpPr>
        <p:spPr>
          <a:xfrm>
            <a:off x="754159" y="3285951"/>
            <a:ext cx="46047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>
                <a:solidFill>
                  <a:schemeClr val="accent4"/>
                </a:solidFill>
              </a:rPr>
              <a:t>2. LightGBM</a:t>
            </a:r>
            <a:r>
              <a:rPr lang="zh-CN" altLang="en-US" sz="1800" b="1">
                <a:solidFill>
                  <a:schemeClr val="accent4"/>
                </a:solidFill>
              </a:rPr>
              <a:t>：预测未来</a:t>
            </a:r>
            <a:r>
              <a:rPr lang="en-US" altLang="zh-CN" sz="1800" b="1">
                <a:solidFill>
                  <a:schemeClr val="accent4"/>
                </a:solidFill>
              </a:rPr>
              <a:t>12</a:t>
            </a:r>
            <a:r>
              <a:rPr lang="zh-CN" altLang="en-US" sz="1800" b="1">
                <a:solidFill>
                  <a:schemeClr val="accent4"/>
                </a:solidFill>
              </a:rPr>
              <a:t>个月转型目标达标概率</a:t>
            </a:r>
            <a:endParaRPr lang="en-US" altLang="zh-CN" sz="1800" b="1">
              <a:solidFill>
                <a:schemeClr val="accent4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0A64690-1D9B-4097-3A43-72B1EE4B2507}"/>
              </a:ext>
            </a:extLst>
          </p:cNvPr>
          <p:cNvSpPr txBox="1"/>
          <p:nvPr/>
        </p:nvSpPr>
        <p:spPr>
          <a:xfrm>
            <a:off x="6405319" y="3134613"/>
            <a:ext cx="1642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P_target = P</a:t>
            </a:r>
            <a:endParaRPr lang="zh-CN" altLang="en-US" b="1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ADE4EE9-4874-48BE-6A0C-2EE31EA396C2}"/>
              </a:ext>
            </a:extLst>
          </p:cNvPr>
          <p:cNvSpPr txBox="1"/>
          <p:nvPr/>
        </p:nvSpPr>
        <p:spPr>
          <a:xfrm>
            <a:off x="6552278" y="1640070"/>
            <a:ext cx="1348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核心输出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8D7AFAE-064F-FF6F-A892-848DF91C5164}"/>
              </a:ext>
            </a:extLst>
          </p:cNvPr>
          <p:cNvSpPr txBox="1"/>
          <p:nvPr/>
        </p:nvSpPr>
        <p:spPr>
          <a:xfrm>
            <a:off x="754159" y="4213285"/>
            <a:ext cx="45120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>
                <a:solidFill>
                  <a:schemeClr val="accent3"/>
                </a:solidFill>
              </a:rPr>
              <a:t>3. SHAP</a:t>
            </a:r>
            <a:r>
              <a:rPr lang="zh-CN" altLang="en-US" sz="1800" b="1">
                <a:solidFill>
                  <a:schemeClr val="accent3"/>
                </a:solidFill>
              </a:rPr>
              <a:t>：展示本期转型效果归因解析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278DE4A-D039-DE27-425F-01A8E74A916A}"/>
              </a:ext>
            </a:extLst>
          </p:cNvPr>
          <p:cNvSpPr txBox="1"/>
          <p:nvPr/>
        </p:nvSpPr>
        <p:spPr>
          <a:xfrm>
            <a:off x="669342" y="5010175"/>
            <a:ext cx="46047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>
                <a:solidFill>
                  <a:srgbClr val="E2AC00"/>
                </a:solidFill>
              </a:rPr>
              <a:t> 4. Isolation Forest</a:t>
            </a:r>
            <a:r>
              <a:rPr lang="zh-CN" altLang="en-US" sz="1800" b="1">
                <a:solidFill>
                  <a:srgbClr val="E2AC00"/>
                </a:solidFill>
              </a:rPr>
              <a:t>：多维组合异常识别</a:t>
            </a:r>
            <a:endParaRPr lang="en-US" altLang="zh-CN" sz="1800" b="1">
              <a:solidFill>
                <a:srgbClr val="E2AC00"/>
              </a:solidFill>
            </a:endParaRPr>
          </a:p>
          <a:p>
            <a:r>
              <a:rPr lang="zh-CN" altLang="en-US" sz="1800" b="1"/>
              <a:t>异常用于可信度调整、触发人工复核，不作漂绿判定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6959BBA-C6D1-E405-EA1F-027106DD3790}"/>
              </a:ext>
            </a:extLst>
          </p:cNvPr>
          <p:cNvSpPr txBox="1"/>
          <p:nvPr/>
        </p:nvSpPr>
        <p:spPr>
          <a:xfrm>
            <a:off x="6405320" y="2134449"/>
            <a:ext cx="1642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/>
              <a:t>碳排变化来源</a:t>
            </a:r>
            <a:endParaRPr lang="zh-CN" altLang="en-US" b="1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246A866-19BA-6B0D-B644-C65E4125540E}"/>
              </a:ext>
            </a:extLst>
          </p:cNvPr>
          <p:cNvSpPr txBox="1"/>
          <p:nvPr/>
        </p:nvSpPr>
        <p:spPr>
          <a:xfrm>
            <a:off x="6339135" y="3890120"/>
            <a:ext cx="1599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正负向驱动因子及贡献占比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4A8F45E-EC36-8FEE-B576-12D57174E3C4}"/>
              </a:ext>
            </a:extLst>
          </p:cNvPr>
          <p:cNvSpPr txBox="1"/>
          <p:nvPr/>
        </p:nvSpPr>
        <p:spPr>
          <a:xfrm>
            <a:off x="6334088" y="5102508"/>
            <a:ext cx="1567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样本异常分数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8EFC021-CED1-2B70-999C-46CE90F5C42D}"/>
              </a:ext>
            </a:extLst>
          </p:cNvPr>
          <p:cNvSpPr txBox="1"/>
          <p:nvPr/>
        </p:nvSpPr>
        <p:spPr>
          <a:xfrm>
            <a:off x="9982263" y="2547969"/>
            <a:ext cx="15992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b="1">
                <a:solidFill>
                  <a:schemeClr val="accent6"/>
                </a:solidFill>
              </a:rPr>
              <a:t>企业转型</a:t>
            </a:r>
            <a:endParaRPr lang="en-US" altLang="zh-CN" sz="2200" b="1">
              <a:solidFill>
                <a:schemeClr val="accent6"/>
              </a:solidFill>
            </a:endParaRPr>
          </a:p>
          <a:p>
            <a:pPr algn="ctr"/>
            <a:r>
              <a:rPr lang="zh-CN" altLang="en-US" sz="2200" b="1">
                <a:solidFill>
                  <a:schemeClr val="accent6"/>
                </a:solidFill>
              </a:rPr>
              <a:t>可信度得分</a:t>
            </a:r>
          </a:p>
        </p:txBody>
      </p:sp>
    </p:spTree>
    <p:extLst>
      <p:ext uri="{BB962C8B-B14F-4D97-AF65-F5344CB8AC3E}">
        <p14:creationId xmlns:p14="http://schemas.microsoft.com/office/powerpoint/2010/main" val="1651659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3708D-2687-8607-7E26-F96A8F095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54482BD-5DB3-2E53-8678-F99D24F21617}"/>
              </a:ext>
            </a:extLst>
          </p:cNvPr>
          <p:cNvSpPr/>
          <p:nvPr/>
        </p:nvSpPr>
        <p:spPr>
          <a:xfrm>
            <a:off x="0" y="0"/>
            <a:ext cx="12192000" cy="925286"/>
          </a:xfrm>
          <a:prstGeom prst="rect">
            <a:avLst/>
          </a:prstGeom>
          <a:gradFill>
            <a:gsLst>
              <a:gs pos="32000">
                <a:srgbClr val="52C2BC">
                  <a:alpha val="50000"/>
                </a:srgbClr>
              </a:gs>
              <a:gs pos="72000">
                <a:srgbClr val="40B8B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77E7E82E-4170-3429-14B8-C045C2C26BCB}"/>
              </a:ext>
            </a:extLst>
          </p:cNvPr>
          <p:cNvSpPr/>
          <p:nvPr/>
        </p:nvSpPr>
        <p:spPr>
          <a:xfrm>
            <a:off x="3182814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97CDA823-416F-7AF1-D8B1-6FEDCED7638B}"/>
              </a:ext>
            </a:extLst>
          </p:cNvPr>
          <p:cNvSpPr/>
          <p:nvPr/>
        </p:nvSpPr>
        <p:spPr>
          <a:xfrm>
            <a:off x="5417788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>
            <a:extLst>
              <a:ext uri="{FF2B5EF4-FFF2-40B4-BE49-F238E27FC236}">
                <a16:creationId xmlns:a16="http://schemas.microsoft.com/office/drawing/2014/main" id="{9ACFFA69-47A7-108E-3E60-09B5D4AF9D1D}"/>
              </a:ext>
            </a:extLst>
          </p:cNvPr>
          <p:cNvSpPr/>
          <p:nvPr/>
        </p:nvSpPr>
        <p:spPr>
          <a:xfrm>
            <a:off x="7652762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平行四边形 8">
            <a:extLst>
              <a:ext uri="{FF2B5EF4-FFF2-40B4-BE49-F238E27FC236}">
                <a16:creationId xmlns:a16="http://schemas.microsoft.com/office/drawing/2014/main" id="{45E71905-B525-5CB6-90E4-485719B8A071}"/>
              </a:ext>
            </a:extLst>
          </p:cNvPr>
          <p:cNvSpPr/>
          <p:nvPr/>
        </p:nvSpPr>
        <p:spPr>
          <a:xfrm>
            <a:off x="9887736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>
            <a:extLst>
              <a:ext uri="{FF2B5EF4-FFF2-40B4-BE49-F238E27FC236}">
                <a16:creationId xmlns:a16="http://schemas.microsoft.com/office/drawing/2014/main" id="{270E8145-0B6A-0789-9D4B-FF859CDEA9BD}"/>
              </a:ext>
            </a:extLst>
          </p:cNvPr>
          <p:cNvSpPr/>
          <p:nvPr/>
        </p:nvSpPr>
        <p:spPr>
          <a:xfrm>
            <a:off x="5417788" y="380016"/>
            <a:ext cx="2108811" cy="688554"/>
          </a:xfrm>
          <a:prstGeom prst="parallelogram">
            <a:avLst/>
          </a:prstGeom>
          <a:solidFill>
            <a:srgbClr val="36A09A"/>
          </a:solidFill>
          <a:ln>
            <a:solidFill>
              <a:srgbClr val="36A0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/>
              <a:t>三大引擎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596A6C9D-07C2-5803-CF3C-D7B53D56E3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6" y="132202"/>
            <a:ext cx="532967" cy="539826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D8E5F5E1-A705-57F6-1D1A-262A9A9A9599}"/>
              </a:ext>
            </a:extLst>
          </p:cNvPr>
          <p:cNvSpPr txBox="1"/>
          <p:nvPr/>
        </p:nvSpPr>
        <p:spPr>
          <a:xfrm>
            <a:off x="599503" y="137792"/>
            <a:ext cx="28047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104862"/>
                </a:solidFill>
              </a:rPr>
              <a:t>工银‘’碳跃智衡’’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3D84D9DD-1CCE-DD20-750F-3F145B1B637F}"/>
              </a:ext>
            </a:extLst>
          </p:cNvPr>
          <p:cNvSpPr/>
          <p:nvPr/>
        </p:nvSpPr>
        <p:spPr>
          <a:xfrm>
            <a:off x="2145350" y="1211854"/>
            <a:ext cx="2840308" cy="580616"/>
          </a:xfrm>
          <a:prstGeom prst="roundRect">
            <a:avLst/>
          </a:prstGeom>
          <a:gradFill>
            <a:gsLst>
              <a:gs pos="32000">
                <a:srgbClr val="52C2BC">
                  <a:alpha val="50000"/>
                </a:srgbClr>
              </a:gs>
              <a:gs pos="72000">
                <a:srgbClr val="40B8B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zh-CN" altLang="en-US" sz="2000" b="1">
                <a:solidFill>
                  <a:schemeClr val="tx1"/>
                </a:solidFill>
              </a:rPr>
              <a:t>园区关联方向传播模型</a:t>
            </a:r>
            <a:endParaRPr lang="zh-CN" altLang="zh-CN" sz="2000" b="1">
              <a:solidFill>
                <a:schemeClr val="tx1"/>
              </a:solidFill>
            </a:endParaRPr>
          </a:p>
        </p:txBody>
      </p:sp>
      <p:sp>
        <p:nvSpPr>
          <p:cNvPr id="22" name="矩形: 对角圆角 21">
            <a:extLst>
              <a:ext uri="{FF2B5EF4-FFF2-40B4-BE49-F238E27FC236}">
                <a16:creationId xmlns:a16="http://schemas.microsoft.com/office/drawing/2014/main" id="{D2DF84B7-89FE-5F23-FA00-72FED8A42881}"/>
              </a:ext>
            </a:extLst>
          </p:cNvPr>
          <p:cNvSpPr/>
          <p:nvPr/>
        </p:nvSpPr>
        <p:spPr>
          <a:xfrm>
            <a:off x="66536" y="1193757"/>
            <a:ext cx="1970314" cy="598713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>
                <a:solidFill>
                  <a:schemeClr val="tx1"/>
                </a:solidFill>
              </a:rPr>
              <a:t>引擎二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1ED5764-08C3-FD5B-BE72-1E8160E82FA0}"/>
              </a:ext>
            </a:extLst>
          </p:cNvPr>
          <p:cNvSpPr txBox="1"/>
          <p:nvPr/>
        </p:nvSpPr>
        <p:spPr>
          <a:xfrm>
            <a:off x="1051693" y="2970764"/>
            <a:ext cx="350942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/>
              <a:t>引擎一输出的</a:t>
            </a:r>
            <a:r>
              <a:rPr lang="en-US" altLang="zh-CN"/>
              <a:t>“</a:t>
            </a:r>
            <a:r>
              <a:rPr lang="zh-CN" altLang="zh-CN"/>
              <a:t>转型未达标风险</a:t>
            </a:r>
            <a:r>
              <a:rPr lang="en-US" altLang="zh-CN"/>
              <a:t> q_i=1−P_target,i”</a:t>
            </a:r>
            <a:r>
              <a:rPr lang="zh-CN" altLang="zh-CN"/>
              <a:t>直接成为每个企业的初始风险。</a:t>
            </a:r>
            <a:endParaRPr lang="en-US" altLang="zh-CN"/>
          </a:p>
          <a:p>
            <a:endParaRPr lang="zh-CN" altLang="zh-CN"/>
          </a:p>
          <a:p>
            <a:r>
              <a:rPr lang="zh-CN" altLang="zh-CN"/>
              <a:t>两阶传播公式：</a:t>
            </a:r>
            <a:r>
              <a:rPr lang="en-US" altLang="zh-CN"/>
              <a:t>r* = clip[r(0) + λWr(0) + λ²W²r(0), 0, 1]</a:t>
            </a:r>
            <a:r>
              <a:rPr lang="zh-CN" altLang="zh-CN"/>
              <a:t>。</a:t>
            </a:r>
            <a:endParaRPr lang="en-US" altLang="zh-CN"/>
          </a:p>
          <a:p>
            <a:r>
              <a:rPr lang="zh-CN" altLang="zh-CN"/>
              <a:t>第一项是企业自身风险；第二项是直接客户</a:t>
            </a:r>
            <a:r>
              <a:rPr lang="en-US" altLang="zh-CN"/>
              <a:t>/</a:t>
            </a:r>
            <a:r>
              <a:rPr lang="zh-CN" altLang="zh-CN"/>
              <a:t>供应商</a:t>
            </a:r>
            <a:r>
              <a:rPr lang="en-US" altLang="zh-CN"/>
              <a:t>/</a:t>
            </a:r>
            <a:r>
              <a:rPr lang="zh-CN" altLang="zh-CN"/>
              <a:t>能源依赖的一阶风险</a:t>
            </a:r>
            <a:r>
              <a:rPr lang="zh-CN" altLang="en-US"/>
              <a:t>。</a:t>
            </a:r>
            <a:endParaRPr lang="zh-CN" altLang="zh-CN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9FDD5AAB-E42D-53B6-FA20-4D585EF2C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2629" y="1941197"/>
            <a:ext cx="6727371" cy="3813856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52C7C62D-1169-947C-1DFE-2347605DB7EA}"/>
              </a:ext>
            </a:extLst>
          </p:cNvPr>
          <p:cNvSpPr/>
          <p:nvPr/>
        </p:nvSpPr>
        <p:spPr>
          <a:xfrm>
            <a:off x="1074329" y="2136513"/>
            <a:ext cx="1614442" cy="490208"/>
          </a:xfrm>
          <a:prstGeom prst="rect">
            <a:avLst/>
          </a:prstGeom>
          <a:solidFill>
            <a:srgbClr val="8DD7D3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输入与传播</a:t>
            </a:r>
            <a:endParaRPr lang="zh-CN" altLang="zh-CN" sz="20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9141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42F78-D607-8B5E-4948-61EF08145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E7DB005-FEAD-7965-3753-CFDFB7402A5C}"/>
              </a:ext>
            </a:extLst>
          </p:cNvPr>
          <p:cNvSpPr/>
          <p:nvPr/>
        </p:nvSpPr>
        <p:spPr>
          <a:xfrm>
            <a:off x="0" y="0"/>
            <a:ext cx="12192000" cy="925286"/>
          </a:xfrm>
          <a:prstGeom prst="rect">
            <a:avLst/>
          </a:prstGeom>
          <a:gradFill>
            <a:gsLst>
              <a:gs pos="32000">
                <a:srgbClr val="52C2BC">
                  <a:alpha val="50000"/>
                </a:srgbClr>
              </a:gs>
              <a:gs pos="72000">
                <a:srgbClr val="40B8B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50E8E73F-BE61-E463-BE79-96AE84177895}"/>
              </a:ext>
            </a:extLst>
          </p:cNvPr>
          <p:cNvSpPr/>
          <p:nvPr/>
        </p:nvSpPr>
        <p:spPr>
          <a:xfrm>
            <a:off x="3182814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0FF428F1-7647-638C-BBBF-398AA3EF8129}"/>
              </a:ext>
            </a:extLst>
          </p:cNvPr>
          <p:cNvSpPr/>
          <p:nvPr/>
        </p:nvSpPr>
        <p:spPr>
          <a:xfrm>
            <a:off x="5417788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>
            <a:extLst>
              <a:ext uri="{FF2B5EF4-FFF2-40B4-BE49-F238E27FC236}">
                <a16:creationId xmlns:a16="http://schemas.microsoft.com/office/drawing/2014/main" id="{57AFE9F5-977E-717B-9922-F691889B4400}"/>
              </a:ext>
            </a:extLst>
          </p:cNvPr>
          <p:cNvSpPr/>
          <p:nvPr/>
        </p:nvSpPr>
        <p:spPr>
          <a:xfrm>
            <a:off x="7652762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平行四边形 8">
            <a:extLst>
              <a:ext uri="{FF2B5EF4-FFF2-40B4-BE49-F238E27FC236}">
                <a16:creationId xmlns:a16="http://schemas.microsoft.com/office/drawing/2014/main" id="{A31D5511-287E-3E73-271A-06559A0F667A}"/>
              </a:ext>
            </a:extLst>
          </p:cNvPr>
          <p:cNvSpPr/>
          <p:nvPr/>
        </p:nvSpPr>
        <p:spPr>
          <a:xfrm>
            <a:off x="9887736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>
            <a:extLst>
              <a:ext uri="{FF2B5EF4-FFF2-40B4-BE49-F238E27FC236}">
                <a16:creationId xmlns:a16="http://schemas.microsoft.com/office/drawing/2014/main" id="{DD6A3D6F-507F-D753-EF90-027827C961EF}"/>
              </a:ext>
            </a:extLst>
          </p:cNvPr>
          <p:cNvSpPr/>
          <p:nvPr/>
        </p:nvSpPr>
        <p:spPr>
          <a:xfrm>
            <a:off x="5417788" y="380016"/>
            <a:ext cx="2108811" cy="688554"/>
          </a:xfrm>
          <a:prstGeom prst="parallelogram">
            <a:avLst/>
          </a:prstGeom>
          <a:solidFill>
            <a:srgbClr val="36A09A"/>
          </a:solidFill>
          <a:ln>
            <a:solidFill>
              <a:srgbClr val="36A0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/>
              <a:t>三大引擎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AC518D87-C2E4-6FD6-23FA-4393B1D09A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6" y="132202"/>
            <a:ext cx="532967" cy="539826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47AF7FE1-478F-6253-2F72-94E2DE0C15D7}"/>
              </a:ext>
            </a:extLst>
          </p:cNvPr>
          <p:cNvSpPr txBox="1"/>
          <p:nvPr/>
        </p:nvSpPr>
        <p:spPr>
          <a:xfrm>
            <a:off x="599503" y="137792"/>
            <a:ext cx="28047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104862"/>
                </a:solidFill>
              </a:rPr>
              <a:t>工银‘’碳跃智衡’’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F071B24-3E54-0B7E-B66A-C07BF75178B0}"/>
              </a:ext>
            </a:extLst>
          </p:cNvPr>
          <p:cNvSpPr/>
          <p:nvPr/>
        </p:nvSpPr>
        <p:spPr>
          <a:xfrm>
            <a:off x="2145350" y="1211854"/>
            <a:ext cx="1258862" cy="580616"/>
          </a:xfrm>
          <a:prstGeom prst="roundRect">
            <a:avLst/>
          </a:prstGeom>
          <a:gradFill>
            <a:gsLst>
              <a:gs pos="32000">
                <a:srgbClr val="52C2BC">
                  <a:alpha val="50000"/>
                </a:srgbClr>
              </a:gs>
              <a:gs pos="72000">
                <a:srgbClr val="40B8B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zh-CN" altLang="en-US" sz="2000" b="1">
                <a:solidFill>
                  <a:schemeClr val="tx1"/>
                </a:solidFill>
              </a:rPr>
              <a:t>成果应用</a:t>
            </a:r>
            <a:endParaRPr lang="zh-CN" altLang="zh-CN" sz="2000" b="1">
              <a:solidFill>
                <a:schemeClr val="tx1"/>
              </a:solidFill>
            </a:endParaRPr>
          </a:p>
        </p:txBody>
      </p:sp>
      <p:sp>
        <p:nvSpPr>
          <p:cNvPr id="22" name="矩形: 对角圆角 21">
            <a:extLst>
              <a:ext uri="{FF2B5EF4-FFF2-40B4-BE49-F238E27FC236}">
                <a16:creationId xmlns:a16="http://schemas.microsoft.com/office/drawing/2014/main" id="{2C4B32F8-C615-55F5-CA06-DEEA376AC316}"/>
              </a:ext>
            </a:extLst>
          </p:cNvPr>
          <p:cNvSpPr/>
          <p:nvPr/>
        </p:nvSpPr>
        <p:spPr>
          <a:xfrm>
            <a:off x="66536" y="1193757"/>
            <a:ext cx="1970314" cy="598713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>
                <a:solidFill>
                  <a:schemeClr val="tx1"/>
                </a:solidFill>
              </a:rPr>
              <a:t>引擎二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2F480BA-C03F-56D5-3485-E2FD99A7F60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5" t="6544" r="7224" b="17168"/>
          <a:stretch>
            <a:fillRect/>
          </a:stretch>
        </p:blipFill>
        <p:spPr>
          <a:xfrm>
            <a:off x="1171436" y="2217997"/>
            <a:ext cx="9503229" cy="4259987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85DF50B-3940-8B91-3E04-A003B341BD52}"/>
              </a:ext>
            </a:extLst>
          </p:cNvPr>
          <p:cNvSpPr txBox="1"/>
          <p:nvPr/>
        </p:nvSpPr>
        <p:spPr>
          <a:xfrm>
            <a:off x="4446762" y="1792470"/>
            <a:ext cx="32984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/>
              <a:t>模型输出与业务应用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0728BDB-F1B6-3A82-0FC6-371A9FB9DBFB}"/>
              </a:ext>
            </a:extLst>
          </p:cNvPr>
          <p:cNvSpPr/>
          <p:nvPr/>
        </p:nvSpPr>
        <p:spPr>
          <a:xfrm>
            <a:off x="1074329" y="2136513"/>
            <a:ext cx="1614442" cy="490208"/>
          </a:xfrm>
          <a:prstGeom prst="rect">
            <a:avLst/>
          </a:prstGeom>
          <a:solidFill>
            <a:srgbClr val="8DD7D3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输出与应用</a:t>
            </a:r>
            <a:endParaRPr lang="zh-CN" altLang="zh-CN" sz="20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1157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92F84-28C1-AC76-0B5D-E03E8EDF8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67A15FB-B4CB-86CD-3E57-BF6CC73C6A3E}"/>
              </a:ext>
            </a:extLst>
          </p:cNvPr>
          <p:cNvSpPr/>
          <p:nvPr/>
        </p:nvSpPr>
        <p:spPr>
          <a:xfrm>
            <a:off x="0" y="0"/>
            <a:ext cx="12192000" cy="925286"/>
          </a:xfrm>
          <a:prstGeom prst="rect">
            <a:avLst/>
          </a:prstGeom>
          <a:gradFill>
            <a:gsLst>
              <a:gs pos="32000">
                <a:srgbClr val="52C2BC">
                  <a:alpha val="50000"/>
                </a:srgbClr>
              </a:gs>
              <a:gs pos="72000">
                <a:srgbClr val="40B8B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B2A32FC1-E4E7-A247-630A-753E9EF6823F}"/>
              </a:ext>
            </a:extLst>
          </p:cNvPr>
          <p:cNvSpPr/>
          <p:nvPr/>
        </p:nvSpPr>
        <p:spPr>
          <a:xfrm>
            <a:off x="3182814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45D3584E-D166-7252-3762-6976046D7667}"/>
              </a:ext>
            </a:extLst>
          </p:cNvPr>
          <p:cNvSpPr/>
          <p:nvPr/>
        </p:nvSpPr>
        <p:spPr>
          <a:xfrm>
            <a:off x="5417788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>
            <a:extLst>
              <a:ext uri="{FF2B5EF4-FFF2-40B4-BE49-F238E27FC236}">
                <a16:creationId xmlns:a16="http://schemas.microsoft.com/office/drawing/2014/main" id="{0EBC2B08-3A4B-F2EA-5B23-8B9164C2652F}"/>
              </a:ext>
            </a:extLst>
          </p:cNvPr>
          <p:cNvSpPr/>
          <p:nvPr/>
        </p:nvSpPr>
        <p:spPr>
          <a:xfrm>
            <a:off x="7652762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平行四边形 8">
            <a:extLst>
              <a:ext uri="{FF2B5EF4-FFF2-40B4-BE49-F238E27FC236}">
                <a16:creationId xmlns:a16="http://schemas.microsoft.com/office/drawing/2014/main" id="{81019488-BC22-3DA7-C3A5-64A48E14EAB9}"/>
              </a:ext>
            </a:extLst>
          </p:cNvPr>
          <p:cNvSpPr/>
          <p:nvPr/>
        </p:nvSpPr>
        <p:spPr>
          <a:xfrm>
            <a:off x="9887736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>
            <a:extLst>
              <a:ext uri="{FF2B5EF4-FFF2-40B4-BE49-F238E27FC236}">
                <a16:creationId xmlns:a16="http://schemas.microsoft.com/office/drawing/2014/main" id="{35973C69-6B1B-76EA-7E47-DAA9C1895C26}"/>
              </a:ext>
            </a:extLst>
          </p:cNvPr>
          <p:cNvSpPr/>
          <p:nvPr/>
        </p:nvSpPr>
        <p:spPr>
          <a:xfrm>
            <a:off x="5417788" y="380016"/>
            <a:ext cx="2108811" cy="688554"/>
          </a:xfrm>
          <a:prstGeom prst="parallelogram">
            <a:avLst/>
          </a:prstGeom>
          <a:solidFill>
            <a:srgbClr val="36A09A"/>
          </a:solidFill>
          <a:ln>
            <a:solidFill>
              <a:srgbClr val="36A0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/>
              <a:t>三大引擎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3546736A-AAF8-47C4-2901-9D8B9469D9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6" y="132202"/>
            <a:ext cx="532967" cy="539826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9CBD7EE4-B8BE-47F0-E608-B26E82E02E90}"/>
              </a:ext>
            </a:extLst>
          </p:cNvPr>
          <p:cNvSpPr txBox="1"/>
          <p:nvPr/>
        </p:nvSpPr>
        <p:spPr>
          <a:xfrm>
            <a:off x="599503" y="137792"/>
            <a:ext cx="28047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104862"/>
                </a:solidFill>
              </a:rPr>
              <a:t>工银‘’碳跃智衡’’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E3A3397-40ED-6F58-3452-DB862954F4F2}"/>
              </a:ext>
            </a:extLst>
          </p:cNvPr>
          <p:cNvSpPr/>
          <p:nvPr/>
        </p:nvSpPr>
        <p:spPr>
          <a:xfrm>
            <a:off x="2145349" y="1211854"/>
            <a:ext cx="3602307" cy="580616"/>
          </a:xfrm>
          <a:prstGeom prst="roundRect">
            <a:avLst/>
          </a:prstGeom>
          <a:gradFill>
            <a:gsLst>
              <a:gs pos="32000">
                <a:srgbClr val="52C2BC">
                  <a:alpha val="50000"/>
                </a:srgbClr>
              </a:gs>
              <a:gs pos="72000">
                <a:srgbClr val="40B8B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zh-CN" altLang="en-US" sz="2000" b="1">
                <a:solidFill>
                  <a:schemeClr val="tx1"/>
                </a:solidFill>
              </a:rPr>
              <a:t>风险收益约束的动态融资决策</a:t>
            </a:r>
            <a:endParaRPr lang="zh-CN" altLang="zh-CN" sz="2000" b="1">
              <a:solidFill>
                <a:schemeClr val="tx1"/>
              </a:solidFill>
            </a:endParaRPr>
          </a:p>
        </p:txBody>
      </p:sp>
      <p:sp>
        <p:nvSpPr>
          <p:cNvPr id="22" name="矩形: 对角圆角 21">
            <a:extLst>
              <a:ext uri="{FF2B5EF4-FFF2-40B4-BE49-F238E27FC236}">
                <a16:creationId xmlns:a16="http://schemas.microsoft.com/office/drawing/2014/main" id="{C8058DF0-1533-1861-ED35-B5CE30E74F9C}"/>
              </a:ext>
            </a:extLst>
          </p:cNvPr>
          <p:cNvSpPr/>
          <p:nvPr/>
        </p:nvSpPr>
        <p:spPr>
          <a:xfrm>
            <a:off x="66536" y="1193757"/>
            <a:ext cx="1970314" cy="598713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>
                <a:solidFill>
                  <a:schemeClr val="tx1"/>
                </a:solidFill>
              </a:rPr>
              <a:t>引擎三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C08274-7A5D-3B0F-A8B6-BC18961C2F9F}"/>
              </a:ext>
            </a:extLst>
          </p:cNvPr>
          <p:cNvSpPr txBox="1"/>
          <p:nvPr/>
        </p:nvSpPr>
        <p:spPr>
          <a:xfrm>
            <a:off x="66536" y="1935754"/>
            <a:ext cx="2481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ea typeface="仿宋" panose="02010609060101010101" pitchFamily="49" charset="-122"/>
              </a:rPr>
              <a:t>1.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ea typeface="仿宋" panose="02010609060101010101" pitchFamily="49" charset="-122"/>
              </a:rPr>
              <a:t>融资额度模型</a:t>
            </a: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703B6A02-9921-F9B1-7719-417845854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961" y="2397419"/>
            <a:ext cx="5452523" cy="4171189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F9E3487-B689-F072-9B77-1D640066F29F}"/>
              </a:ext>
            </a:extLst>
          </p:cNvPr>
          <p:cNvSpPr/>
          <p:nvPr/>
        </p:nvSpPr>
        <p:spPr>
          <a:xfrm>
            <a:off x="5938074" y="2129574"/>
            <a:ext cx="5864327" cy="4171189"/>
          </a:xfrm>
          <a:prstGeom prst="rect">
            <a:avLst/>
          </a:prstGeom>
          <a:solidFill>
            <a:srgbClr val="8DD7D3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>
                <a:solidFill>
                  <a:schemeClr val="tx1"/>
                </a:solidFill>
              </a:rPr>
              <a:t>额度遵循“基础额度不被替代、转型信息只做增量”的原则：</a:t>
            </a:r>
          </a:p>
          <a:p>
            <a:r>
              <a:rPr lang="en-US" altLang="zh-CN" sz="2000" b="1">
                <a:solidFill>
                  <a:schemeClr val="tx1"/>
                </a:solidFill>
              </a:rPr>
              <a:t>L_final = L_base + L_transition − L_network。</a:t>
            </a:r>
          </a:p>
          <a:p>
            <a:endParaRPr lang="en-US" altLang="zh-CN" sz="2000" b="1">
              <a:solidFill>
                <a:schemeClr val="tx1"/>
              </a:solidFill>
            </a:endParaRPr>
          </a:p>
          <a:p>
            <a:r>
              <a:rPr lang="en-US" altLang="zh-CN" sz="2000" b="1">
                <a:solidFill>
                  <a:schemeClr val="tx1"/>
                </a:solidFill>
              </a:rPr>
              <a:t>转型支持额度：</a:t>
            </a:r>
          </a:p>
          <a:p>
            <a:r>
              <a:rPr lang="en-US" altLang="zh-CN" sz="2000" b="1">
                <a:solidFill>
                  <a:schemeClr val="tx1"/>
                </a:solidFill>
              </a:rPr>
              <a:t>L_transition = C_project × α × P_target × Q_data。</a:t>
            </a:r>
          </a:p>
          <a:p>
            <a:endParaRPr lang="en-US" altLang="zh-CN" sz="2000" b="1">
              <a:solidFill>
                <a:schemeClr val="tx1"/>
              </a:solidFill>
            </a:endParaRPr>
          </a:p>
          <a:p>
            <a:r>
              <a:rPr lang="en-US" altLang="zh-CN" sz="2000" b="1">
                <a:solidFill>
                  <a:schemeClr val="tx1"/>
                </a:solidFill>
              </a:rPr>
              <a:t>网络风险扣减：</a:t>
            </a:r>
          </a:p>
          <a:p>
            <a:r>
              <a:rPr lang="en-US" altLang="zh-CN" sz="2000" b="1">
                <a:solidFill>
                  <a:schemeClr val="tx1"/>
                </a:solidFill>
              </a:rPr>
              <a:t>L_network = (L_base + L_transition) × min(g_max, k·R_network)。</a:t>
            </a:r>
            <a:endParaRPr lang="zh-CN" altLang="zh-CN" sz="20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50546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8F037-EFA7-5B87-2F29-8EBABA582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E92A265-43A9-24F7-042C-BDFC22352EE9}"/>
              </a:ext>
            </a:extLst>
          </p:cNvPr>
          <p:cNvSpPr/>
          <p:nvPr/>
        </p:nvSpPr>
        <p:spPr>
          <a:xfrm>
            <a:off x="0" y="0"/>
            <a:ext cx="12192000" cy="925286"/>
          </a:xfrm>
          <a:prstGeom prst="rect">
            <a:avLst/>
          </a:prstGeom>
          <a:gradFill>
            <a:gsLst>
              <a:gs pos="32000">
                <a:srgbClr val="52C2BC">
                  <a:alpha val="50000"/>
                </a:srgbClr>
              </a:gs>
              <a:gs pos="72000">
                <a:srgbClr val="40B8B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416CCABF-66E8-B170-7841-EEF38C86B25E}"/>
              </a:ext>
            </a:extLst>
          </p:cNvPr>
          <p:cNvSpPr/>
          <p:nvPr/>
        </p:nvSpPr>
        <p:spPr>
          <a:xfrm>
            <a:off x="3182814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B6B70AF0-51CD-27C6-CFF4-6A0DA493054B}"/>
              </a:ext>
            </a:extLst>
          </p:cNvPr>
          <p:cNvSpPr/>
          <p:nvPr/>
        </p:nvSpPr>
        <p:spPr>
          <a:xfrm>
            <a:off x="5417788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>
            <a:extLst>
              <a:ext uri="{FF2B5EF4-FFF2-40B4-BE49-F238E27FC236}">
                <a16:creationId xmlns:a16="http://schemas.microsoft.com/office/drawing/2014/main" id="{D25FCB2B-9C02-1CEA-F17D-7049608F1D36}"/>
              </a:ext>
            </a:extLst>
          </p:cNvPr>
          <p:cNvSpPr/>
          <p:nvPr/>
        </p:nvSpPr>
        <p:spPr>
          <a:xfrm>
            <a:off x="7652762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平行四边形 8">
            <a:extLst>
              <a:ext uri="{FF2B5EF4-FFF2-40B4-BE49-F238E27FC236}">
                <a16:creationId xmlns:a16="http://schemas.microsoft.com/office/drawing/2014/main" id="{293918A7-69BA-FB77-EDDF-B4B23CA2C3C3}"/>
              </a:ext>
            </a:extLst>
          </p:cNvPr>
          <p:cNvSpPr/>
          <p:nvPr/>
        </p:nvSpPr>
        <p:spPr>
          <a:xfrm>
            <a:off x="9887736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>
            <a:extLst>
              <a:ext uri="{FF2B5EF4-FFF2-40B4-BE49-F238E27FC236}">
                <a16:creationId xmlns:a16="http://schemas.microsoft.com/office/drawing/2014/main" id="{DADF2C80-9AAE-2B45-5D3E-F29ADBD01AD4}"/>
              </a:ext>
            </a:extLst>
          </p:cNvPr>
          <p:cNvSpPr/>
          <p:nvPr/>
        </p:nvSpPr>
        <p:spPr>
          <a:xfrm>
            <a:off x="5417788" y="380016"/>
            <a:ext cx="2108811" cy="688554"/>
          </a:xfrm>
          <a:prstGeom prst="parallelogram">
            <a:avLst/>
          </a:prstGeom>
          <a:solidFill>
            <a:srgbClr val="36A09A"/>
          </a:solidFill>
          <a:ln>
            <a:solidFill>
              <a:srgbClr val="36A0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/>
              <a:t>三大引擎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70C0C6EE-18C2-1B16-C164-2489C25F49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6" y="132202"/>
            <a:ext cx="532967" cy="539826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E9877863-032A-145E-1D14-9F2680809764}"/>
              </a:ext>
            </a:extLst>
          </p:cNvPr>
          <p:cNvSpPr txBox="1"/>
          <p:nvPr/>
        </p:nvSpPr>
        <p:spPr>
          <a:xfrm>
            <a:off x="599503" y="137792"/>
            <a:ext cx="28047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104862"/>
                </a:solidFill>
              </a:rPr>
              <a:t>工银‘’碳跃智衡’’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6A5257A-8851-CD6B-66ED-3E0E0728E6D1}"/>
              </a:ext>
            </a:extLst>
          </p:cNvPr>
          <p:cNvSpPr/>
          <p:nvPr/>
        </p:nvSpPr>
        <p:spPr>
          <a:xfrm>
            <a:off x="2145349" y="1211854"/>
            <a:ext cx="3602307" cy="580616"/>
          </a:xfrm>
          <a:prstGeom prst="roundRect">
            <a:avLst/>
          </a:prstGeom>
          <a:gradFill>
            <a:gsLst>
              <a:gs pos="32000">
                <a:srgbClr val="52C2BC">
                  <a:alpha val="50000"/>
                </a:srgbClr>
              </a:gs>
              <a:gs pos="72000">
                <a:srgbClr val="40B8B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zh-CN" altLang="en-US" sz="2000" b="1">
                <a:solidFill>
                  <a:schemeClr val="tx1"/>
                </a:solidFill>
              </a:rPr>
              <a:t>风险收益约束的动态融资决策</a:t>
            </a:r>
            <a:endParaRPr lang="zh-CN" altLang="zh-CN" sz="2000" b="1">
              <a:solidFill>
                <a:schemeClr val="tx1"/>
              </a:solidFill>
            </a:endParaRPr>
          </a:p>
        </p:txBody>
      </p:sp>
      <p:sp>
        <p:nvSpPr>
          <p:cNvPr id="22" name="矩形: 对角圆角 21">
            <a:extLst>
              <a:ext uri="{FF2B5EF4-FFF2-40B4-BE49-F238E27FC236}">
                <a16:creationId xmlns:a16="http://schemas.microsoft.com/office/drawing/2014/main" id="{BE121FFB-ECDD-6B8C-B251-AF62A64D1B93}"/>
              </a:ext>
            </a:extLst>
          </p:cNvPr>
          <p:cNvSpPr/>
          <p:nvPr/>
        </p:nvSpPr>
        <p:spPr>
          <a:xfrm>
            <a:off x="66536" y="1193757"/>
            <a:ext cx="1970314" cy="598713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>
                <a:solidFill>
                  <a:schemeClr val="tx1"/>
                </a:solidFill>
              </a:rPr>
              <a:t>引擎三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2551AF6-DE4C-FBCD-BE35-A04BADD7DC23}"/>
              </a:ext>
            </a:extLst>
          </p:cNvPr>
          <p:cNvSpPr txBox="1"/>
          <p:nvPr/>
        </p:nvSpPr>
        <p:spPr>
          <a:xfrm>
            <a:off x="66536" y="1935754"/>
            <a:ext cx="4385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ea typeface="仿宋" panose="02010609060101010101" pitchFamily="49" charset="-122"/>
              </a:rPr>
              <a:t>2.</a:t>
            </a:r>
            <a:r>
              <a:rPr lang="en-US" altLang="zh-CN"/>
              <a:t> </a:t>
            </a:r>
            <a:r>
              <a:rPr lang="en-US" altLang="zh-CN" sz="2400" b="1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RAROC</a:t>
            </a:r>
            <a:r>
              <a:rPr lang="zh-CN" altLang="zh-CN" sz="2400" b="1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约束下</a:t>
            </a:r>
            <a:r>
              <a:rPr lang="zh-CN" altLang="en-US" sz="2400" b="1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的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ea typeface="仿宋" panose="02010609060101010101" pitchFamily="49" charset="-122"/>
              </a:rPr>
              <a:t>动态定价模型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3A49B6D-B72A-8E24-1B5C-FBE9D06B0556}"/>
              </a:ext>
            </a:extLst>
          </p:cNvPr>
          <p:cNvSpPr/>
          <p:nvPr/>
        </p:nvSpPr>
        <p:spPr>
          <a:xfrm>
            <a:off x="4196365" y="2647744"/>
            <a:ext cx="5576502" cy="3625676"/>
          </a:xfrm>
          <a:prstGeom prst="rect">
            <a:avLst/>
          </a:prstGeom>
          <a:solidFill>
            <a:schemeClr val="bg1"/>
          </a:solidFill>
          <a:ln>
            <a:solidFill>
              <a:srgbClr val="40B8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3791F62F-A5CE-26B8-C7B1-EFE33224147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89324" y="2678544"/>
            <a:ext cx="601431" cy="62876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96E99B2-988A-5ABF-8B01-905A07C08803}"/>
              </a:ext>
            </a:extLst>
          </p:cNvPr>
          <p:cNvSpPr txBox="1"/>
          <p:nvPr/>
        </p:nvSpPr>
        <p:spPr>
          <a:xfrm>
            <a:off x="4814555" y="3179930"/>
            <a:ext cx="466067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贷款执行利率可表示为：R_loan = R_base + RP_credit + RP_network − D_transition。</a:t>
            </a:r>
          </a:p>
          <a:p>
            <a:endParaRPr lang="en-US" altLang="zh-CN" b="1"/>
          </a:p>
          <a:p>
            <a:r>
              <a:rPr lang="en-US" altLang="zh-CN" b="1"/>
              <a:t>其中RP_credit为传统信用风险溢价，RP_network由园区网络风险产生，D_transition为真实转型绩效对应的优惠。</a:t>
            </a:r>
          </a:p>
          <a:p>
            <a:endParaRPr lang="en-US" altLang="zh-CN" b="1"/>
          </a:p>
          <a:p>
            <a:r>
              <a:rPr lang="zh-CN" altLang="zh-CN" b="1"/>
              <a:t>所有优惠最后必须通过</a:t>
            </a:r>
            <a:r>
              <a:rPr lang="en-US" altLang="zh-CN" b="1"/>
              <a:t>RAROC</a:t>
            </a:r>
            <a:r>
              <a:rPr lang="zh-CN" altLang="zh-CN" b="1"/>
              <a:t>底线校验：</a:t>
            </a:r>
            <a:endParaRPr lang="en-US" altLang="zh-CN" b="1"/>
          </a:p>
          <a:p>
            <a:r>
              <a:rPr lang="en-US" altLang="zh-CN" b="1"/>
              <a:t>RAROC =</a:t>
            </a:r>
            <a:r>
              <a:rPr lang="zh-CN" altLang="zh-CN" b="1"/>
              <a:t>（贷款收益</a:t>
            </a:r>
            <a:r>
              <a:rPr lang="en-US" altLang="zh-CN" b="1"/>
              <a:t>−</a:t>
            </a:r>
            <a:r>
              <a:rPr lang="zh-CN" altLang="zh-CN" b="1"/>
              <a:t>预期损失</a:t>
            </a:r>
            <a:r>
              <a:rPr lang="en-US" altLang="zh-CN" b="1"/>
              <a:t>−</a:t>
            </a:r>
            <a:r>
              <a:rPr lang="zh-CN" altLang="zh-CN" b="1"/>
              <a:t>运营成本）</a:t>
            </a:r>
            <a:r>
              <a:rPr lang="en-US" altLang="zh-CN" b="1"/>
              <a:t>/</a:t>
            </a:r>
            <a:r>
              <a:rPr lang="zh-CN" altLang="zh-CN" b="1"/>
              <a:t>风险资本占用</a:t>
            </a:r>
            <a:endParaRPr lang="zh-CN" altLang="en-US" b="1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E6B21E5-4BF7-EC0D-90CF-C9AE04E0B3C6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663" t="13778" b="11777"/>
          <a:stretch>
            <a:fillRect/>
          </a:stretch>
        </p:blipFill>
        <p:spPr>
          <a:xfrm rot="867344">
            <a:off x="726629" y="2630478"/>
            <a:ext cx="2620441" cy="3660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4927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BD7BB-BAB5-FBE0-7847-B38E1AD24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5D6EAE5-844B-CDB3-7EEF-909165D62450}"/>
              </a:ext>
            </a:extLst>
          </p:cNvPr>
          <p:cNvSpPr/>
          <p:nvPr/>
        </p:nvSpPr>
        <p:spPr>
          <a:xfrm>
            <a:off x="0" y="0"/>
            <a:ext cx="12192000" cy="925286"/>
          </a:xfrm>
          <a:prstGeom prst="rect">
            <a:avLst/>
          </a:prstGeom>
          <a:gradFill>
            <a:gsLst>
              <a:gs pos="32000">
                <a:srgbClr val="52C2BC">
                  <a:alpha val="50000"/>
                </a:srgbClr>
              </a:gs>
              <a:gs pos="72000">
                <a:srgbClr val="40B8B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F5809F84-FB89-8E3F-C837-7A5ADE4F3556}"/>
              </a:ext>
            </a:extLst>
          </p:cNvPr>
          <p:cNvSpPr/>
          <p:nvPr/>
        </p:nvSpPr>
        <p:spPr>
          <a:xfrm>
            <a:off x="3182814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5A07556F-134A-760B-4235-EAD40677B894}"/>
              </a:ext>
            </a:extLst>
          </p:cNvPr>
          <p:cNvSpPr/>
          <p:nvPr/>
        </p:nvSpPr>
        <p:spPr>
          <a:xfrm>
            <a:off x="5417788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>
            <a:extLst>
              <a:ext uri="{FF2B5EF4-FFF2-40B4-BE49-F238E27FC236}">
                <a16:creationId xmlns:a16="http://schemas.microsoft.com/office/drawing/2014/main" id="{4BBE5E40-3219-0CBD-7AF1-7422F06300E2}"/>
              </a:ext>
            </a:extLst>
          </p:cNvPr>
          <p:cNvSpPr/>
          <p:nvPr/>
        </p:nvSpPr>
        <p:spPr>
          <a:xfrm>
            <a:off x="7652762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平行四边形 8">
            <a:extLst>
              <a:ext uri="{FF2B5EF4-FFF2-40B4-BE49-F238E27FC236}">
                <a16:creationId xmlns:a16="http://schemas.microsoft.com/office/drawing/2014/main" id="{B054C181-649D-B80E-FEFD-9D2AE8D608BF}"/>
              </a:ext>
            </a:extLst>
          </p:cNvPr>
          <p:cNvSpPr/>
          <p:nvPr/>
        </p:nvSpPr>
        <p:spPr>
          <a:xfrm>
            <a:off x="9887736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>
            <a:extLst>
              <a:ext uri="{FF2B5EF4-FFF2-40B4-BE49-F238E27FC236}">
                <a16:creationId xmlns:a16="http://schemas.microsoft.com/office/drawing/2014/main" id="{E2D3822E-1147-B0FF-3BBD-97C31F636725}"/>
              </a:ext>
            </a:extLst>
          </p:cNvPr>
          <p:cNvSpPr/>
          <p:nvPr/>
        </p:nvSpPr>
        <p:spPr>
          <a:xfrm>
            <a:off x="7652762" y="380016"/>
            <a:ext cx="2108811" cy="688554"/>
          </a:xfrm>
          <a:prstGeom prst="parallelogram">
            <a:avLst/>
          </a:prstGeom>
          <a:solidFill>
            <a:srgbClr val="36A09A"/>
          </a:solidFill>
          <a:ln>
            <a:solidFill>
              <a:srgbClr val="36A0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/>
              <a:t>案例应用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9ADA6AE5-9E3E-C231-FEFB-F611411851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6" y="132202"/>
            <a:ext cx="532967" cy="539826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95E82761-060D-10FF-D1D4-C0AC3AE25D34}"/>
              </a:ext>
            </a:extLst>
          </p:cNvPr>
          <p:cNvSpPr txBox="1"/>
          <p:nvPr/>
        </p:nvSpPr>
        <p:spPr>
          <a:xfrm>
            <a:off x="599503" y="137792"/>
            <a:ext cx="28047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104862"/>
                </a:solidFill>
              </a:rPr>
              <a:t>工银‘’碳跃智衡’’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9251144-C7DF-2420-A32B-3FDD00907098}"/>
              </a:ext>
            </a:extLst>
          </p:cNvPr>
          <p:cNvSpPr/>
          <p:nvPr/>
        </p:nvSpPr>
        <p:spPr>
          <a:xfrm>
            <a:off x="2145348" y="1211854"/>
            <a:ext cx="3732938" cy="580616"/>
          </a:xfrm>
          <a:prstGeom prst="roundRect">
            <a:avLst/>
          </a:prstGeom>
          <a:gradFill>
            <a:gsLst>
              <a:gs pos="32000">
                <a:srgbClr val="52C2BC">
                  <a:alpha val="50000"/>
                </a:srgbClr>
              </a:gs>
              <a:gs pos="72000">
                <a:srgbClr val="40B8B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sz="2000" b="1">
                <a:solidFill>
                  <a:schemeClr val="tx1"/>
                </a:solidFill>
              </a:rPr>
              <a:t>一家高碳企业如何被</a:t>
            </a:r>
            <a:r>
              <a:rPr lang="en-US" altLang="zh-CN" sz="2000" b="1">
                <a:solidFill>
                  <a:schemeClr val="tx1"/>
                </a:solidFill>
              </a:rPr>
              <a:t>“</a:t>
            </a:r>
            <a:r>
              <a:rPr lang="zh-CN" altLang="zh-CN" sz="2000" b="1">
                <a:solidFill>
                  <a:schemeClr val="tx1"/>
                </a:solidFill>
              </a:rPr>
              <a:t>可信支持</a:t>
            </a:r>
            <a:r>
              <a:rPr lang="en-US" altLang="zh-CN" sz="2000" b="1">
                <a:solidFill>
                  <a:schemeClr val="tx1"/>
                </a:solidFill>
              </a:rPr>
              <a:t>”</a:t>
            </a:r>
            <a:endParaRPr lang="zh-CN" altLang="zh-CN" sz="2000" b="1">
              <a:solidFill>
                <a:schemeClr val="tx1"/>
              </a:solidFill>
            </a:endParaRPr>
          </a:p>
        </p:txBody>
      </p:sp>
      <p:sp>
        <p:nvSpPr>
          <p:cNvPr id="22" name="矩形: 对角圆角 21">
            <a:extLst>
              <a:ext uri="{FF2B5EF4-FFF2-40B4-BE49-F238E27FC236}">
                <a16:creationId xmlns:a16="http://schemas.microsoft.com/office/drawing/2014/main" id="{280B716E-8DE8-6BB5-784A-49EA6557A136}"/>
              </a:ext>
            </a:extLst>
          </p:cNvPr>
          <p:cNvSpPr/>
          <p:nvPr/>
        </p:nvSpPr>
        <p:spPr>
          <a:xfrm>
            <a:off x="66536" y="1193757"/>
            <a:ext cx="1970314" cy="598713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>
                <a:solidFill>
                  <a:schemeClr val="tx1"/>
                </a:solidFill>
              </a:rPr>
              <a:t>案例应用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803E532-5B43-3C9E-7591-38B45E37B6F8}"/>
              </a:ext>
            </a:extLst>
          </p:cNvPr>
          <p:cNvSpPr txBox="1"/>
          <p:nvPr/>
        </p:nvSpPr>
        <p:spPr>
          <a:xfrm>
            <a:off x="66536" y="1941197"/>
            <a:ext cx="23697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ea typeface="仿宋" panose="02010609060101010101" pitchFamily="49" charset="-122"/>
              </a:rPr>
              <a:t>1.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ea typeface="仿宋" panose="02010609060101010101" pitchFamily="49" charset="-122"/>
              </a:rPr>
              <a:t>基准情景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A522293-9E54-5EB5-539D-2C9F1C708AA1}"/>
              </a:ext>
            </a:extLst>
          </p:cNvPr>
          <p:cNvSpPr/>
          <p:nvPr/>
        </p:nvSpPr>
        <p:spPr>
          <a:xfrm>
            <a:off x="1730322" y="1879423"/>
            <a:ext cx="10129151" cy="1085032"/>
          </a:xfrm>
          <a:prstGeom prst="rect">
            <a:avLst/>
          </a:prstGeom>
          <a:solidFill>
            <a:srgbClr val="8DD7D3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b="1">
                <a:solidFill>
                  <a:schemeClr val="tx1"/>
                </a:solidFill>
              </a:rPr>
              <a:t>以下数据均为平台演示参数。设某钢铁</a:t>
            </a:r>
            <a:r>
              <a:rPr lang="en-US" altLang="zh-CN" b="1">
                <a:solidFill>
                  <a:schemeClr val="tx1"/>
                </a:solidFill>
              </a:rPr>
              <a:t>/</a:t>
            </a:r>
            <a:r>
              <a:rPr lang="zh-CN" altLang="zh-CN" b="1">
                <a:solidFill>
                  <a:schemeClr val="tx1"/>
                </a:solidFill>
              </a:rPr>
              <a:t>建材园区企业</a:t>
            </a:r>
            <a:r>
              <a:rPr lang="en-US" altLang="zh-CN" b="1">
                <a:solidFill>
                  <a:schemeClr val="tx1"/>
                </a:solidFill>
              </a:rPr>
              <a:t>A</a:t>
            </a:r>
            <a:r>
              <a:rPr lang="zh-CN" altLang="zh-CN" b="1">
                <a:solidFill>
                  <a:schemeClr val="tx1"/>
                </a:solidFill>
              </a:rPr>
              <a:t>基础授信额度</a:t>
            </a:r>
            <a:r>
              <a:rPr lang="en-US" altLang="zh-CN" b="1">
                <a:solidFill>
                  <a:schemeClr val="tx1"/>
                </a:solidFill>
              </a:rPr>
              <a:t>3,000</a:t>
            </a:r>
            <a:r>
              <a:rPr lang="zh-CN" altLang="zh-CN" b="1">
                <a:solidFill>
                  <a:schemeClr val="tx1"/>
                </a:solidFill>
              </a:rPr>
              <a:t>万元，拟实施</a:t>
            </a:r>
            <a:r>
              <a:rPr lang="en-US" altLang="zh-CN" b="1">
                <a:solidFill>
                  <a:schemeClr val="tx1"/>
                </a:solidFill>
              </a:rPr>
              <a:t>1,000</a:t>
            </a:r>
            <a:r>
              <a:rPr lang="zh-CN" altLang="zh-CN" b="1">
                <a:solidFill>
                  <a:schemeClr val="tx1"/>
                </a:solidFill>
              </a:rPr>
              <a:t>万元节能技改项目。模型预测其未来</a:t>
            </a:r>
            <a:r>
              <a:rPr lang="en-US" altLang="zh-CN" b="1">
                <a:solidFill>
                  <a:schemeClr val="tx1"/>
                </a:solidFill>
              </a:rPr>
              <a:t>12</a:t>
            </a:r>
            <a:r>
              <a:rPr lang="zh-CN" altLang="zh-CN" b="1">
                <a:solidFill>
                  <a:schemeClr val="tx1"/>
                </a:solidFill>
              </a:rPr>
              <a:t>个月转型目标达标概率</a:t>
            </a:r>
            <a:r>
              <a:rPr lang="en-US" altLang="zh-CN" b="1">
                <a:solidFill>
                  <a:schemeClr val="tx1"/>
                </a:solidFill>
              </a:rPr>
              <a:t>82.6%</a:t>
            </a:r>
            <a:r>
              <a:rPr lang="zh-CN" altLang="zh-CN" b="1">
                <a:solidFill>
                  <a:schemeClr val="tx1"/>
                </a:solidFill>
              </a:rPr>
              <a:t>，数据可信度</a:t>
            </a:r>
            <a:r>
              <a:rPr lang="en-US" altLang="zh-CN" b="1">
                <a:solidFill>
                  <a:schemeClr val="tx1"/>
                </a:solidFill>
              </a:rPr>
              <a:t>95%</a:t>
            </a:r>
            <a:r>
              <a:rPr lang="zh-CN" altLang="zh-CN" b="1">
                <a:solidFill>
                  <a:schemeClr val="tx1"/>
                </a:solidFill>
              </a:rPr>
              <a:t>，行业基础支持比例</a:t>
            </a:r>
            <a:r>
              <a:rPr lang="en-US" altLang="zh-CN" b="1">
                <a:solidFill>
                  <a:schemeClr val="tx1"/>
                </a:solidFill>
              </a:rPr>
              <a:t>80%</a:t>
            </a:r>
            <a:r>
              <a:rPr lang="zh-CN" altLang="zh-CN" b="1">
                <a:solidFill>
                  <a:schemeClr val="tx1"/>
                </a:solidFill>
              </a:rPr>
              <a:t>；园区综合风险为</a:t>
            </a:r>
            <a:r>
              <a:rPr lang="en-US" altLang="zh-CN" b="1">
                <a:solidFill>
                  <a:schemeClr val="tx1"/>
                </a:solidFill>
              </a:rPr>
              <a:t>16%</a:t>
            </a:r>
            <a:r>
              <a:rPr lang="zh-CN" altLang="zh-CN" b="1">
                <a:solidFill>
                  <a:schemeClr val="tx1"/>
                </a:solidFill>
              </a:rPr>
              <a:t>。</a:t>
            </a:r>
          </a:p>
        </p:txBody>
      </p:sp>
      <p:sp>
        <p:nvSpPr>
          <p:cNvPr id="13" name="箭头: V 形 12">
            <a:extLst>
              <a:ext uri="{FF2B5EF4-FFF2-40B4-BE49-F238E27FC236}">
                <a16:creationId xmlns:a16="http://schemas.microsoft.com/office/drawing/2014/main" id="{3851C2A2-95F7-B6D5-7CF2-CC0B65B0619C}"/>
              </a:ext>
            </a:extLst>
          </p:cNvPr>
          <p:cNvSpPr/>
          <p:nvPr/>
        </p:nvSpPr>
        <p:spPr>
          <a:xfrm>
            <a:off x="1783119" y="3052316"/>
            <a:ext cx="9807597" cy="461665"/>
          </a:xfrm>
          <a:prstGeom prst="chevron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spc="-150">
                <a:solidFill>
                  <a:schemeClr val="tx1"/>
                </a:solidFill>
              </a:rPr>
              <a:t>LMDI  |  </a:t>
            </a:r>
            <a:r>
              <a:rPr lang="zh-CN" altLang="en-US" b="1" spc="-150">
                <a:solidFill>
                  <a:schemeClr val="tx1"/>
                </a:solidFill>
              </a:rPr>
              <a:t>净排放下降</a:t>
            </a:r>
            <a:r>
              <a:rPr lang="en-US" altLang="zh-CN" b="1" spc="-150">
                <a:solidFill>
                  <a:schemeClr val="tx1"/>
                </a:solidFill>
              </a:rPr>
              <a:t>9%</a:t>
            </a:r>
            <a:r>
              <a:rPr lang="zh-CN" altLang="en-US" b="1" spc="-150">
                <a:solidFill>
                  <a:schemeClr val="tx1"/>
                </a:solidFill>
              </a:rPr>
              <a:t>，其中能效改善和能源结构贡献</a:t>
            </a:r>
            <a:r>
              <a:rPr lang="en-US" altLang="zh-CN" b="1" spc="-150">
                <a:solidFill>
                  <a:schemeClr val="tx1"/>
                </a:solidFill>
              </a:rPr>
              <a:t>13.5%</a:t>
            </a:r>
            <a:r>
              <a:rPr lang="zh-CN" altLang="en-US" b="1" spc="-150">
                <a:solidFill>
                  <a:schemeClr val="tx1"/>
                </a:solidFill>
              </a:rPr>
              <a:t>，产量扩张抵消</a:t>
            </a:r>
            <a:r>
              <a:rPr lang="en-US" altLang="zh-CN" b="1" spc="-150">
                <a:solidFill>
                  <a:schemeClr val="tx1"/>
                </a:solidFill>
              </a:rPr>
              <a:t>6%	</a:t>
            </a:r>
            <a:r>
              <a:rPr lang="zh-CN" altLang="en-US" b="1" spc="-150">
                <a:solidFill>
                  <a:schemeClr val="tx1"/>
                </a:solidFill>
              </a:rPr>
              <a:t>不是减产式“假改善”</a:t>
            </a:r>
          </a:p>
        </p:txBody>
      </p:sp>
      <p:sp>
        <p:nvSpPr>
          <p:cNvPr id="14" name="箭头: 五边形 13">
            <a:extLst>
              <a:ext uri="{FF2B5EF4-FFF2-40B4-BE49-F238E27FC236}">
                <a16:creationId xmlns:a16="http://schemas.microsoft.com/office/drawing/2014/main" id="{67EE8073-71D2-C76B-1343-E54B7296A425}"/>
              </a:ext>
            </a:extLst>
          </p:cNvPr>
          <p:cNvSpPr/>
          <p:nvPr/>
        </p:nvSpPr>
        <p:spPr>
          <a:xfrm>
            <a:off x="180836" y="3052317"/>
            <a:ext cx="1741714" cy="461665"/>
          </a:xfrm>
          <a:prstGeom prst="homePlat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a. </a:t>
            </a:r>
            <a:r>
              <a:rPr lang="zh-CN" altLang="en-US" sz="1600" b="1">
                <a:solidFill>
                  <a:schemeClr val="tx1"/>
                </a:solidFill>
              </a:rPr>
              <a:t>识别真实转型</a:t>
            </a:r>
            <a:endParaRPr lang="zh-CN" altLang="en-US" sz="1600" b="1"/>
          </a:p>
        </p:txBody>
      </p:sp>
      <p:sp>
        <p:nvSpPr>
          <p:cNvPr id="16" name="箭头: 五边形 15">
            <a:extLst>
              <a:ext uri="{FF2B5EF4-FFF2-40B4-BE49-F238E27FC236}">
                <a16:creationId xmlns:a16="http://schemas.microsoft.com/office/drawing/2014/main" id="{A44FF3DB-09B3-24B7-D317-D8DFB5EF88D2}"/>
              </a:ext>
            </a:extLst>
          </p:cNvPr>
          <p:cNvSpPr/>
          <p:nvPr/>
        </p:nvSpPr>
        <p:spPr>
          <a:xfrm>
            <a:off x="180836" y="3632614"/>
            <a:ext cx="1856014" cy="461665"/>
          </a:xfrm>
          <a:prstGeom prst="homePlat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>
                <a:solidFill>
                  <a:schemeClr val="tx1"/>
                </a:solidFill>
              </a:rPr>
              <a:t>b. </a:t>
            </a:r>
            <a:r>
              <a:rPr lang="zh-CN" altLang="en-US" sz="1600" b="1">
                <a:solidFill>
                  <a:schemeClr val="tx1"/>
                </a:solidFill>
              </a:rPr>
              <a:t>预测转型兑现</a:t>
            </a:r>
          </a:p>
        </p:txBody>
      </p:sp>
      <p:sp>
        <p:nvSpPr>
          <p:cNvPr id="20" name="箭头: V 形 19">
            <a:extLst>
              <a:ext uri="{FF2B5EF4-FFF2-40B4-BE49-F238E27FC236}">
                <a16:creationId xmlns:a16="http://schemas.microsoft.com/office/drawing/2014/main" id="{C3178DE5-8C4C-FE48-0AB0-D118F5D0D12B}"/>
              </a:ext>
            </a:extLst>
          </p:cNvPr>
          <p:cNvSpPr/>
          <p:nvPr/>
        </p:nvSpPr>
        <p:spPr>
          <a:xfrm>
            <a:off x="1894123" y="3644750"/>
            <a:ext cx="9258299" cy="461665"/>
          </a:xfrm>
          <a:prstGeom prst="chevron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spc="-150">
                <a:solidFill>
                  <a:schemeClr val="tx1"/>
                </a:solidFill>
              </a:rPr>
              <a:t>LightGBM+SHAP	P_target=82.6%</a:t>
            </a:r>
            <a:r>
              <a:rPr lang="zh-CN" altLang="en-US" b="1" spc="-150">
                <a:solidFill>
                  <a:schemeClr val="tx1"/>
                </a:solidFill>
              </a:rPr>
              <a:t>，</a:t>
            </a:r>
            <a:r>
              <a:rPr lang="en-US" altLang="zh-CN" b="1" spc="-150">
                <a:solidFill>
                  <a:schemeClr val="tx1"/>
                </a:solidFill>
              </a:rPr>
              <a:t>A</a:t>
            </a:r>
            <a:r>
              <a:rPr lang="zh-CN" altLang="en-US" b="1" spc="-150">
                <a:solidFill>
                  <a:schemeClr val="tx1"/>
                </a:solidFill>
              </a:rPr>
              <a:t>档  </a:t>
            </a:r>
            <a:r>
              <a:rPr lang="en-US" altLang="zh-CN" b="1" spc="-150">
                <a:solidFill>
                  <a:schemeClr val="tx1"/>
                </a:solidFill>
              </a:rPr>
              <a:t>|  </a:t>
            </a:r>
            <a:r>
              <a:rPr lang="zh-CN" altLang="en-US" b="1" spc="-150">
                <a:solidFill>
                  <a:schemeClr val="tx1"/>
                </a:solidFill>
              </a:rPr>
              <a:t>项目进度、自有资金、能效趋势构成主要正向因素</a:t>
            </a:r>
          </a:p>
        </p:txBody>
      </p:sp>
      <p:sp>
        <p:nvSpPr>
          <p:cNvPr id="24" name="箭头: 五边形 23">
            <a:extLst>
              <a:ext uri="{FF2B5EF4-FFF2-40B4-BE49-F238E27FC236}">
                <a16:creationId xmlns:a16="http://schemas.microsoft.com/office/drawing/2014/main" id="{449A46C6-3F4E-AC26-FB7A-A5D2436C84D0}"/>
              </a:ext>
            </a:extLst>
          </p:cNvPr>
          <p:cNvSpPr/>
          <p:nvPr/>
        </p:nvSpPr>
        <p:spPr>
          <a:xfrm>
            <a:off x="180836" y="4212911"/>
            <a:ext cx="1741714" cy="461665"/>
          </a:xfrm>
          <a:prstGeom prst="homePlat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>
                <a:solidFill>
                  <a:schemeClr val="tx1"/>
                </a:solidFill>
              </a:rPr>
              <a:t>c. </a:t>
            </a:r>
            <a:r>
              <a:rPr lang="zh-CN" altLang="en-US" sz="1600" b="1">
                <a:solidFill>
                  <a:schemeClr val="tx1"/>
                </a:solidFill>
              </a:rPr>
              <a:t>计算转型支持</a:t>
            </a:r>
          </a:p>
        </p:txBody>
      </p:sp>
      <p:sp>
        <p:nvSpPr>
          <p:cNvPr id="26" name="箭头: 五边形 25">
            <a:extLst>
              <a:ext uri="{FF2B5EF4-FFF2-40B4-BE49-F238E27FC236}">
                <a16:creationId xmlns:a16="http://schemas.microsoft.com/office/drawing/2014/main" id="{07414A7F-01B0-358D-9F7E-AAE1DE1B5A05}"/>
              </a:ext>
            </a:extLst>
          </p:cNvPr>
          <p:cNvSpPr/>
          <p:nvPr/>
        </p:nvSpPr>
        <p:spPr>
          <a:xfrm>
            <a:off x="189115" y="4793208"/>
            <a:ext cx="1873564" cy="461665"/>
          </a:xfrm>
          <a:prstGeom prst="homePlat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>
                <a:solidFill>
                  <a:schemeClr val="tx1"/>
                </a:solidFill>
              </a:rPr>
              <a:t>d.</a:t>
            </a:r>
            <a:r>
              <a:rPr lang="zh-CN" altLang="en-US" sz="1600" b="1">
                <a:solidFill>
                  <a:schemeClr val="tx1"/>
                </a:solidFill>
              </a:rPr>
              <a:t> 网络风险扣减</a:t>
            </a:r>
          </a:p>
        </p:txBody>
      </p:sp>
      <p:sp>
        <p:nvSpPr>
          <p:cNvPr id="28" name="箭头: 五边形 27">
            <a:extLst>
              <a:ext uri="{FF2B5EF4-FFF2-40B4-BE49-F238E27FC236}">
                <a16:creationId xmlns:a16="http://schemas.microsoft.com/office/drawing/2014/main" id="{1F4F1551-D5A9-33BF-CBEC-325F21584EBE}"/>
              </a:ext>
            </a:extLst>
          </p:cNvPr>
          <p:cNvSpPr/>
          <p:nvPr/>
        </p:nvSpPr>
        <p:spPr>
          <a:xfrm>
            <a:off x="189115" y="5373505"/>
            <a:ext cx="1873564" cy="461665"/>
          </a:xfrm>
          <a:prstGeom prst="homePlat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>
                <a:solidFill>
                  <a:schemeClr val="tx1"/>
                </a:solidFill>
              </a:rPr>
              <a:t>e. </a:t>
            </a:r>
            <a:r>
              <a:rPr lang="zh-CN" altLang="en-US" sz="1600" b="1">
                <a:solidFill>
                  <a:schemeClr val="tx1"/>
                </a:solidFill>
              </a:rPr>
              <a:t>最终建议额度</a:t>
            </a:r>
          </a:p>
        </p:txBody>
      </p:sp>
      <p:sp>
        <p:nvSpPr>
          <p:cNvPr id="30" name="箭头: 五边形 29">
            <a:extLst>
              <a:ext uri="{FF2B5EF4-FFF2-40B4-BE49-F238E27FC236}">
                <a16:creationId xmlns:a16="http://schemas.microsoft.com/office/drawing/2014/main" id="{993E94D9-0F95-074A-2EB2-861CD96CC593}"/>
              </a:ext>
            </a:extLst>
          </p:cNvPr>
          <p:cNvSpPr/>
          <p:nvPr/>
        </p:nvSpPr>
        <p:spPr>
          <a:xfrm>
            <a:off x="193101" y="5953802"/>
            <a:ext cx="1873564" cy="461665"/>
          </a:xfrm>
          <a:prstGeom prst="homePlat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>
                <a:solidFill>
                  <a:schemeClr val="tx1"/>
                </a:solidFill>
              </a:rPr>
              <a:t>f. </a:t>
            </a:r>
            <a:r>
              <a:rPr lang="zh-CN" altLang="en-US" sz="1600" b="1">
                <a:solidFill>
                  <a:schemeClr val="tx1"/>
                </a:solidFill>
              </a:rPr>
              <a:t>动态定价</a:t>
            </a:r>
          </a:p>
        </p:txBody>
      </p:sp>
      <p:sp>
        <p:nvSpPr>
          <p:cNvPr id="32" name="箭头: V 形 31">
            <a:extLst>
              <a:ext uri="{FF2B5EF4-FFF2-40B4-BE49-F238E27FC236}">
                <a16:creationId xmlns:a16="http://schemas.microsoft.com/office/drawing/2014/main" id="{EC7F3A41-9B16-E481-8283-827988221BC8}"/>
              </a:ext>
            </a:extLst>
          </p:cNvPr>
          <p:cNvSpPr/>
          <p:nvPr/>
        </p:nvSpPr>
        <p:spPr>
          <a:xfrm>
            <a:off x="1771012" y="4206842"/>
            <a:ext cx="9372600" cy="461665"/>
          </a:xfrm>
          <a:prstGeom prst="chevron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spc="-150">
                <a:solidFill>
                  <a:schemeClr val="tx1"/>
                </a:solidFill>
              </a:rPr>
              <a:t>1000×0.80×0.826×0.95	</a:t>
            </a:r>
            <a:r>
              <a:rPr lang="zh-CN" altLang="en-US" b="1" spc="-150">
                <a:solidFill>
                  <a:schemeClr val="tx1"/>
                </a:solidFill>
              </a:rPr>
              <a:t>约</a:t>
            </a:r>
            <a:r>
              <a:rPr lang="en-US" altLang="zh-CN" b="1" spc="-150">
                <a:solidFill>
                  <a:schemeClr val="tx1"/>
                </a:solidFill>
              </a:rPr>
              <a:t>628</a:t>
            </a:r>
            <a:r>
              <a:rPr lang="zh-CN" altLang="en-US" b="1" spc="-150">
                <a:solidFill>
                  <a:schemeClr val="tx1"/>
                </a:solidFill>
              </a:rPr>
              <a:t>万元	只对经核验项目给予概率化增量支持</a:t>
            </a:r>
          </a:p>
        </p:txBody>
      </p:sp>
      <p:sp>
        <p:nvSpPr>
          <p:cNvPr id="34" name="箭头: V 形 33">
            <a:extLst>
              <a:ext uri="{FF2B5EF4-FFF2-40B4-BE49-F238E27FC236}">
                <a16:creationId xmlns:a16="http://schemas.microsoft.com/office/drawing/2014/main" id="{B9BE7B6E-CA61-155A-27F7-9D73D341DCDF}"/>
              </a:ext>
            </a:extLst>
          </p:cNvPr>
          <p:cNvSpPr/>
          <p:nvPr/>
        </p:nvSpPr>
        <p:spPr>
          <a:xfrm>
            <a:off x="1922549" y="4799276"/>
            <a:ext cx="9372600" cy="461665"/>
          </a:xfrm>
          <a:prstGeom prst="chevron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spc="-150">
                <a:solidFill>
                  <a:schemeClr val="tx1"/>
                </a:solidFill>
              </a:rPr>
              <a:t>  (3000+628)×(0.20×0.16)	  </a:t>
            </a:r>
            <a:r>
              <a:rPr lang="zh-CN" altLang="en-US" b="1" spc="-150">
                <a:solidFill>
                  <a:schemeClr val="tx1"/>
                </a:solidFill>
              </a:rPr>
              <a:t>约</a:t>
            </a:r>
            <a:r>
              <a:rPr lang="en-US" altLang="zh-CN" b="1" spc="-150">
                <a:solidFill>
                  <a:schemeClr val="tx1"/>
                </a:solidFill>
              </a:rPr>
              <a:t>116</a:t>
            </a:r>
            <a:r>
              <a:rPr lang="zh-CN" altLang="en-US" b="1" spc="-150">
                <a:solidFill>
                  <a:schemeClr val="tx1"/>
                </a:solidFill>
              </a:rPr>
              <a:t>万元	园区共享能源与下游依赖形成风险调整</a:t>
            </a:r>
          </a:p>
        </p:txBody>
      </p:sp>
      <p:sp>
        <p:nvSpPr>
          <p:cNvPr id="36" name="箭头: V 形 35">
            <a:extLst>
              <a:ext uri="{FF2B5EF4-FFF2-40B4-BE49-F238E27FC236}">
                <a16:creationId xmlns:a16="http://schemas.microsoft.com/office/drawing/2014/main" id="{6A7B2F77-B979-F2DE-2681-EF41C704CB6B}"/>
              </a:ext>
            </a:extLst>
          </p:cNvPr>
          <p:cNvSpPr/>
          <p:nvPr/>
        </p:nvSpPr>
        <p:spPr>
          <a:xfrm>
            <a:off x="1922549" y="5373505"/>
            <a:ext cx="9372600" cy="461665"/>
          </a:xfrm>
          <a:prstGeom prst="chevron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spc="-150">
                <a:solidFill>
                  <a:schemeClr val="tx1"/>
                </a:solidFill>
              </a:rPr>
              <a:t>3000+628−116 = 3512</a:t>
            </a:r>
            <a:r>
              <a:rPr lang="zh-CN" altLang="en-US" b="1" spc="-150">
                <a:solidFill>
                  <a:schemeClr val="tx1"/>
                </a:solidFill>
              </a:rPr>
              <a:t>万元	传统信用</a:t>
            </a:r>
            <a:r>
              <a:rPr lang="en-US" altLang="zh-CN" b="1" spc="-150">
                <a:solidFill>
                  <a:schemeClr val="tx1"/>
                </a:solidFill>
              </a:rPr>
              <a:t>+</a:t>
            </a:r>
            <a:r>
              <a:rPr lang="zh-CN" altLang="en-US" b="1" spc="-150">
                <a:solidFill>
                  <a:schemeClr val="tx1"/>
                </a:solidFill>
              </a:rPr>
              <a:t>可信转型−园区关联风险</a:t>
            </a:r>
          </a:p>
        </p:txBody>
      </p:sp>
      <p:sp>
        <p:nvSpPr>
          <p:cNvPr id="38" name="箭头: V 形 37">
            <a:extLst>
              <a:ext uri="{FF2B5EF4-FFF2-40B4-BE49-F238E27FC236}">
                <a16:creationId xmlns:a16="http://schemas.microsoft.com/office/drawing/2014/main" id="{B9BB41CC-0C15-C244-5958-54B68BCEA5F3}"/>
              </a:ext>
            </a:extLst>
          </p:cNvPr>
          <p:cNvSpPr/>
          <p:nvPr/>
        </p:nvSpPr>
        <p:spPr>
          <a:xfrm>
            <a:off x="1922549" y="5953801"/>
            <a:ext cx="10129151" cy="461665"/>
          </a:xfrm>
          <a:prstGeom prst="chevron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spc="-150">
                <a:solidFill>
                  <a:schemeClr val="tx1"/>
                </a:solidFill>
              </a:rPr>
              <a:t>基础定价</a:t>
            </a:r>
            <a:r>
              <a:rPr lang="en-US" altLang="zh-CN" b="1" spc="-150">
                <a:solidFill>
                  <a:schemeClr val="tx1"/>
                </a:solidFill>
              </a:rPr>
              <a:t>+</a:t>
            </a:r>
            <a:r>
              <a:rPr lang="zh-CN" altLang="en-US" b="1" spc="-150">
                <a:solidFill>
                  <a:schemeClr val="tx1"/>
                </a:solidFill>
              </a:rPr>
              <a:t>网络溢价−绩效优惠</a:t>
            </a:r>
            <a:r>
              <a:rPr lang="en-US" altLang="zh-CN" b="1" spc="-150">
                <a:solidFill>
                  <a:schemeClr val="tx1"/>
                </a:solidFill>
              </a:rPr>
              <a:t>+RAROC</a:t>
            </a:r>
            <a:r>
              <a:rPr lang="zh-CN" altLang="en-US" b="1" spc="-150">
                <a:solidFill>
                  <a:schemeClr val="tx1"/>
                </a:solidFill>
              </a:rPr>
              <a:t>校验	示例</a:t>
            </a:r>
            <a:r>
              <a:rPr lang="en-US" altLang="zh-CN" b="1" spc="-150">
                <a:solidFill>
                  <a:schemeClr val="tx1"/>
                </a:solidFill>
              </a:rPr>
              <a:t>3.70%</a:t>
            </a:r>
            <a:r>
              <a:rPr lang="zh-CN" altLang="en-US" b="1" spc="-150">
                <a:solidFill>
                  <a:schemeClr val="tx1"/>
                </a:solidFill>
              </a:rPr>
              <a:t>，</a:t>
            </a:r>
            <a:r>
              <a:rPr lang="en-US" altLang="zh-CN" b="1" spc="-150">
                <a:solidFill>
                  <a:schemeClr val="tx1"/>
                </a:solidFill>
              </a:rPr>
              <a:t>RAROC 9.1%	</a:t>
            </a:r>
            <a:r>
              <a:rPr lang="zh-CN" altLang="en-US" b="1" spc="-150">
                <a:solidFill>
                  <a:schemeClr val="tx1"/>
                </a:solidFill>
              </a:rPr>
              <a:t>优惠服从风险收益底线</a:t>
            </a:r>
          </a:p>
        </p:txBody>
      </p:sp>
    </p:spTree>
    <p:extLst>
      <p:ext uri="{BB962C8B-B14F-4D97-AF65-F5344CB8AC3E}">
        <p14:creationId xmlns:p14="http://schemas.microsoft.com/office/powerpoint/2010/main" val="8239265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25B65-650B-9421-9C33-C9EABFF25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52C2C85-ED69-BC05-2B73-7B79BE2DF1A1}"/>
              </a:ext>
            </a:extLst>
          </p:cNvPr>
          <p:cNvSpPr/>
          <p:nvPr/>
        </p:nvSpPr>
        <p:spPr>
          <a:xfrm>
            <a:off x="0" y="0"/>
            <a:ext cx="12192000" cy="925286"/>
          </a:xfrm>
          <a:prstGeom prst="rect">
            <a:avLst/>
          </a:prstGeom>
          <a:gradFill>
            <a:gsLst>
              <a:gs pos="32000">
                <a:srgbClr val="52C2BC">
                  <a:alpha val="50000"/>
                </a:srgbClr>
              </a:gs>
              <a:gs pos="72000">
                <a:srgbClr val="40B8B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F928DE86-FB81-7217-99AA-D94908522B18}"/>
              </a:ext>
            </a:extLst>
          </p:cNvPr>
          <p:cNvSpPr/>
          <p:nvPr/>
        </p:nvSpPr>
        <p:spPr>
          <a:xfrm>
            <a:off x="3182814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926CD443-D45A-4A48-E622-E034AEDB369F}"/>
              </a:ext>
            </a:extLst>
          </p:cNvPr>
          <p:cNvSpPr/>
          <p:nvPr/>
        </p:nvSpPr>
        <p:spPr>
          <a:xfrm>
            <a:off x="5417788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>
            <a:extLst>
              <a:ext uri="{FF2B5EF4-FFF2-40B4-BE49-F238E27FC236}">
                <a16:creationId xmlns:a16="http://schemas.microsoft.com/office/drawing/2014/main" id="{56070A4E-B937-D397-A116-5ED1710A10D9}"/>
              </a:ext>
            </a:extLst>
          </p:cNvPr>
          <p:cNvSpPr/>
          <p:nvPr/>
        </p:nvSpPr>
        <p:spPr>
          <a:xfrm>
            <a:off x="7652762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平行四边形 8">
            <a:extLst>
              <a:ext uri="{FF2B5EF4-FFF2-40B4-BE49-F238E27FC236}">
                <a16:creationId xmlns:a16="http://schemas.microsoft.com/office/drawing/2014/main" id="{B3281E36-B820-2275-BCB0-D55C63233789}"/>
              </a:ext>
            </a:extLst>
          </p:cNvPr>
          <p:cNvSpPr/>
          <p:nvPr/>
        </p:nvSpPr>
        <p:spPr>
          <a:xfrm>
            <a:off x="9887736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>
            <a:extLst>
              <a:ext uri="{FF2B5EF4-FFF2-40B4-BE49-F238E27FC236}">
                <a16:creationId xmlns:a16="http://schemas.microsoft.com/office/drawing/2014/main" id="{F1EB4D6B-E196-DD8D-C1F5-28BF94BF4F77}"/>
              </a:ext>
            </a:extLst>
          </p:cNvPr>
          <p:cNvSpPr/>
          <p:nvPr/>
        </p:nvSpPr>
        <p:spPr>
          <a:xfrm>
            <a:off x="7652762" y="380016"/>
            <a:ext cx="2108811" cy="688554"/>
          </a:xfrm>
          <a:prstGeom prst="parallelogram">
            <a:avLst/>
          </a:prstGeom>
          <a:solidFill>
            <a:srgbClr val="36A09A"/>
          </a:solidFill>
          <a:ln>
            <a:solidFill>
              <a:srgbClr val="36A0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/>
              <a:t>案例应用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C6CF633F-BE85-1783-805B-ABA08A21507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6" y="132202"/>
            <a:ext cx="532967" cy="539826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A135CAE6-CBFD-2213-C4D5-BE9443211876}"/>
              </a:ext>
            </a:extLst>
          </p:cNvPr>
          <p:cNvSpPr txBox="1"/>
          <p:nvPr/>
        </p:nvSpPr>
        <p:spPr>
          <a:xfrm>
            <a:off x="599503" y="137792"/>
            <a:ext cx="28047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104862"/>
                </a:solidFill>
              </a:rPr>
              <a:t>工银‘’碳跃智衡’’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51C9D9B-F4CD-F510-96CE-0D253413C894}"/>
              </a:ext>
            </a:extLst>
          </p:cNvPr>
          <p:cNvSpPr/>
          <p:nvPr/>
        </p:nvSpPr>
        <p:spPr>
          <a:xfrm>
            <a:off x="2145348" y="1211854"/>
            <a:ext cx="3732938" cy="580616"/>
          </a:xfrm>
          <a:prstGeom prst="roundRect">
            <a:avLst/>
          </a:prstGeom>
          <a:gradFill>
            <a:gsLst>
              <a:gs pos="32000">
                <a:srgbClr val="52C2BC">
                  <a:alpha val="50000"/>
                </a:srgbClr>
              </a:gs>
              <a:gs pos="72000">
                <a:srgbClr val="40B8B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sz="2000" b="1">
                <a:solidFill>
                  <a:schemeClr val="tx1"/>
                </a:solidFill>
              </a:rPr>
              <a:t>一家高碳企业如何被</a:t>
            </a:r>
            <a:r>
              <a:rPr lang="en-US" altLang="zh-CN" sz="2000" b="1">
                <a:solidFill>
                  <a:schemeClr val="tx1"/>
                </a:solidFill>
              </a:rPr>
              <a:t>“</a:t>
            </a:r>
            <a:r>
              <a:rPr lang="zh-CN" altLang="zh-CN" sz="2000" b="1">
                <a:solidFill>
                  <a:schemeClr val="tx1"/>
                </a:solidFill>
              </a:rPr>
              <a:t>可信支持</a:t>
            </a:r>
            <a:r>
              <a:rPr lang="en-US" altLang="zh-CN" sz="2000" b="1">
                <a:solidFill>
                  <a:schemeClr val="tx1"/>
                </a:solidFill>
              </a:rPr>
              <a:t>”</a:t>
            </a:r>
            <a:endParaRPr lang="zh-CN" altLang="zh-CN" sz="2000" b="1">
              <a:solidFill>
                <a:schemeClr val="tx1"/>
              </a:solidFill>
            </a:endParaRPr>
          </a:p>
        </p:txBody>
      </p:sp>
      <p:sp>
        <p:nvSpPr>
          <p:cNvPr id="22" name="矩形: 对角圆角 21">
            <a:extLst>
              <a:ext uri="{FF2B5EF4-FFF2-40B4-BE49-F238E27FC236}">
                <a16:creationId xmlns:a16="http://schemas.microsoft.com/office/drawing/2014/main" id="{38819F0F-0414-7322-ED49-27C2C167E3E6}"/>
              </a:ext>
            </a:extLst>
          </p:cNvPr>
          <p:cNvSpPr/>
          <p:nvPr/>
        </p:nvSpPr>
        <p:spPr>
          <a:xfrm>
            <a:off x="66536" y="1193757"/>
            <a:ext cx="1970314" cy="598713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>
                <a:solidFill>
                  <a:schemeClr val="tx1"/>
                </a:solidFill>
              </a:rPr>
              <a:t>案例应用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EA8B639-58E9-9AB4-AEE2-86AEAEEF9FAB}"/>
              </a:ext>
            </a:extLst>
          </p:cNvPr>
          <p:cNvSpPr txBox="1"/>
          <p:nvPr/>
        </p:nvSpPr>
        <p:spPr>
          <a:xfrm>
            <a:off x="66535" y="1941197"/>
            <a:ext cx="30032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ea typeface="仿宋" panose="02010609060101010101" pitchFamily="49" charset="-122"/>
              </a:rPr>
              <a:t>2.</a:t>
            </a:r>
            <a:r>
              <a:rPr lang="zh-CN" altLang="en-US" sz="2400" b="1">
                <a:solidFill>
                  <a:schemeClr val="accent1">
                    <a:lumMod val="75000"/>
                  </a:schemeClr>
                </a:solidFill>
                <a:ea typeface="仿宋" panose="02010609060101010101" pitchFamily="49" charset="-122"/>
              </a:rPr>
              <a:t>压力测试下情景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E6E7564-C926-DB8A-DCF6-4BE4C0E12B45}"/>
              </a:ext>
            </a:extLst>
          </p:cNvPr>
          <p:cNvSpPr/>
          <p:nvPr/>
        </p:nvSpPr>
        <p:spPr>
          <a:xfrm>
            <a:off x="7652762" y="1227710"/>
            <a:ext cx="3890050" cy="1241325"/>
          </a:xfrm>
          <a:prstGeom prst="rect">
            <a:avLst/>
          </a:prstGeom>
          <a:solidFill>
            <a:srgbClr val="8DD7D3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b="1">
                <a:solidFill>
                  <a:schemeClr val="tx1"/>
                </a:solidFill>
              </a:rPr>
              <a:t>情景压力测试：若天然气价格上涨</a:t>
            </a:r>
            <a:r>
              <a:rPr lang="en-US" altLang="zh-CN" b="1">
                <a:solidFill>
                  <a:schemeClr val="tx1"/>
                </a:solidFill>
              </a:rPr>
              <a:t>30%</a:t>
            </a:r>
            <a:r>
              <a:rPr lang="zh-CN" altLang="zh-CN" b="1">
                <a:solidFill>
                  <a:schemeClr val="tx1"/>
                </a:solidFill>
              </a:rPr>
              <a:t>，企业</a:t>
            </a:r>
            <a:r>
              <a:rPr lang="en-US" altLang="zh-CN" b="1">
                <a:solidFill>
                  <a:schemeClr val="tx1"/>
                </a:solidFill>
              </a:rPr>
              <a:t>A</a:t>
            </a:r>
            <a:r>
              <a:rPr lang="zh-CN" altLang="zh-CN" b="1">
                <a:solidFill>
                  <a:schemeClr val="tx1"/>
                </a:solidFill>
              </a:rPr>
              <a:t>达标概率从</a:t>
            </a:r>
            <a:r>
              <a:rPr lang="en-US" altLang="zh-CN" b="1">
                <a:solidFill>
                  <a:schemeClr val="tx1"/>
                </a:solidFill>
              </a:rPr>
              <a:t>82.6%</a:t>
            </a:r>
            <a:r>
              <a:rPr lang="zh-CN" altLang="zh-CN" b="1">
                <a:solidFill>
                  <a:schemeClr val="tx1"/>
                </a:solidFill>
              </a:rPr>
              <a:t>降至</a:t>
            </a:r>
            <a:r>
              <a:rPr lang="en-US" altLang="zh-CN" b="1">
                <a:solidFill>
                  <a:schemeClr val="tx1"/>
                </a:solidFill>
              </a:rPr>
              <a:t>74.0%</a:t>
            </a:r>
            <a:r>
              <a:rPr lang="zh-CN" altLang="zh-CN" b="1">
                <a:solidFill>
                  <a:schemeClr val="tx1"/>
                </a:solidFill>
              </a:rPr>
              <a:t>，园区综合风险由</a:t>
            </a:r>
            <a:r>
              <a:rPr lang="en-US" altLang="zh-CN" b="1">
                <a:solidFill>
                  <a:schemeClr val="tx1"/>
                </a:solidFill>
              </a:rPr>
              <a:t>16%</a:t>
            </a:r>
            <a:r>
              <a:rPr lang="zh-CN" altLang="zh-CN" b="1">
                <a:solidFill>
                  <a:schemeClr val="tx1"/>
                </a:solidFill>
              </a:rPr>
              <a:t>升至</a:t>
            </a:r>
            <a:r>
              <a:rPr lang="en-US" altLang="zh-CN" b="1">
                <a:solidFill>
                  <a:schemeClr val="tx1"/>
                </a:solidFill>
              </a:rPr>
              <a:t>31%</a:t>
            </a:r>
            <a:r>
              <a:rPr lang="zh-CN" altLang="en-US" b="1">
                <a:solidFill>
                  <a:schemeClr val="tx1"/>
                </a:solidFill>
              </a:rPr>
              <a:t>，额度如何调整？</a:t>
            </a:r>
            <a:endParaRPr lang="en-US" altLang="zh-CN" b="1">
              <a:solidFill>
                <a:schemeClr val="tx1"/>
              </a:solidFill>
            </a:endParaRPr>
          </a:p>
        </p:txBody>
      </p:sp>
      <p:grpSp>
        <p:nvGrpSpPr>
          <p:cNvPr id="12" name="组合 3">
            <a:extLst>
              <a:ext uri="{FF2B5EF4-FFF2-40B4-BE49-F238E27FC236}">
                <a16:creationId xmlns:a16="http://schemas.microsoft.com/office/drawing/2014/main" id="{A0359FDF-D238-2327-E706-65BD436B8193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762207" y="2302535"/>
            <a:ext cx="9949336" cy="3859461"/>
            <a:chOff x="4184161" y="1854110"/>
            <a:chExt cx="3810977" cy="2809372"/>
          </a:xfrm>
        </p:grpSpPr>
        <p:grpSp>
          <p:nvGrpSpPr>
            <p:cNvPr id="13" name="组合 1">
              <a:extLst>
                <a:ext uri="{FF2B5EF4-FFF2-40B4-BE49-F238E27FC236}">
                  <a16:creationId xmlns:a16="http://schemas.microsoft.com/office/drawing/2014/main" id="{88BA65D9-2BA7-8336-E785-89E5BC4B2E20}"/>
                </a:ext>
              </a:extLst>
            </p:cNvPr>
            <p:cNvGrpSpPr/>
            <p:nvPr/>
          </p:nvGrpSpPr>
          <p:grpSpPr>
            <a:xfrm>
              <a:off x="4184161" y="2550244"/>
              <a:ext cx="1637411" cy="2113238"/>
              <a:chOff x="660401" y="3274055"/>
              <a:chExt cx="1637411" cy="2113238"/>
            </a:xfrm>
          </p:grpSpPr>
          <p:sp>
            <p:nvSpPr>
              <p:cNvPr id="29" name="1">
                <a:extLst>
                  <a:ext uri="{FF2B5EF4-FFF2-40B4-BE49-F238E27FC236}">
                    <a16:creationId xmlns:a16="http://schemas.microsoft.com/office/drawing/2014/main" id="{FBC33281-7FCC-C013-08A6-47AB0DFE1120}"/>
                  </a:ext>
                </a:extLst>
              </p:cNvPr>
              <p:cNvSpPr/>
              <p:nvPr/>
            </p:nvSpPr>
            <p:spPr>
              <a:xfrm>
                <a:off x="660401" y="3274055"/>
                <a:ext cx="1637411" cy="2113238"/>
              </a:xfrm>
              <a:prstGeom prst="rect">
                <a:avLst/>
              </a:prstGeom>
              <a:solidFill>
                <a:schemeClr val="bg1"/>
              </a:solidFill>
              <a:ln>
                <a:gradFill flip="none" rotWithShape="1">
                  <a:gsLst>
                    <a:gs pos="20000">
                      <a:schemeClr val="bg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</a:ln>
              <a:effectLst>
                <a:outerShdw blurRad="203200" dist="127000" dir="5400000" algn="tl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33" name="Index-1">
                <a:extLst>
                  <a:ext uri="{FF2B5EF4-FFF2-40B4-BE49-F238E27FC236}">
                    <a16:creationId xmlns:a16="http://schemas.microsoft.com/office/drawing/2014/main" id="{4EA5F326-24E0-FED4-9E87-B2A64D59CA05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736821" y="3330317"/>
                <a:ext cx="1414637" cy="358358"/>
              </a:xfrm>
              <a:prstGeom prst="rect">
                <a:avLst/>
              </a:prstGeom>
              <a:gradFill>
                <a:gsLst>
                  <a:gs pos="1000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>
                <a:noFill/>
              </a:ln>
              <a:effectLst>
                <a:outerShdw blurRad="76200" dist="63500" dir="2700000" algn="tl" rotWithShape="0">
                  <a:schemeClr val="accent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spc="50">
                    <a:solidFill>
                      <a:srgbClr val="FDFDFD"/>
                    </a:solidFill>
                  </a:rPr>
                  <a:t>动态调整前额度</a:t>
                </a:r>
                <a:endParaRPr lang="zh-CN" altLang="en-US" b="1" spc="50" dirty="0">
                  <a:solidFill>
                    <a:srgbClr val="FDFDFD"/>
                  </a:solidFill>
                </a:endParaRPr>
              </a:p>
            </p:txBody>
          </p:sp>
          <p:sp>
            <p:nvSpPr>
              <p:cNvPr id="36" name="Body-1">
                <a:extLst>
                  <a:ext uri="{FF2B5EF4-FFF2-40B4-BE49-F238E27FC236}">
                    <a16:creationId xmlns:a16="http://schemas.microsoft.com/office/drawing/2014/main" id="{2273697D-CCD2-B25A-3F56-74DA9D9ABFFD}"/>
                  </a:ext>
                </a:extLst>
              </p:cNvPr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771787" y="3764669"/>
                <a:ext cx="1414637" cy="521251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>
                <a:spAutoFit/>
              </a:bodyPr>
              <a:lstStyle/>
              <a:p>
                <a:pPr algn="just" hangingPunct="0">
                  <a:lnSpc>
                    <a:spcPct val="120000"/>
                  </a:lnSpc>
                  <a:defRPr/>
                </a:pPr>
                <a:r>
                  <a:rPr lang="zh-CN" altLang="en-US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  <a:sym typeface="微软雅黑" panose="020B0503020204020204" pitchFamily="34" charset="-122"/>
                  </a:rPr>
                  <a:t>转型支持额度 </a:t>
                </a:r>
                <a:endParaRPr lang="en-US" altLang="zh-CN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微软雅黑" panose="020B0503020204020204" pitchFamily="34" charset="-122"/>
                </a:endParaRPr>
              </a:p>
              <a:p>
                <a:pPr algn="just" hangingPunct="0">
                  <a:lnSpc>
                    <a:spcPct val="120000"/>
                  </a:lnSpc>
                  <a:defRPr/>
                </a:pPr>
                <a:r>
                  <a:rPr lang="en-US" altLang="zh-CN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  <a:sym typeface="微软雅黑" panose="020B0503020204020204" pitchFamily="34" charset="-122"/>
                  </a:rPr>
                  <a:t>= </a:t>
                </a:r>
                <a:r>
                  <a:rPr lang="en-US" altLang="zh-CN" b="1"/>
                  <a:t>1000×0.80×0.826×0.95 </a:t>
                </a:r>
                <a:r>
                  <a:rPr lang="zh-CN" altLang="en-US" b="1"/>
                  <a:t>≈</a:t>
                </a:r>
                <a:r>
                  <a:rPr lang="en-US" altLang="zh-CN" b="1"/>
                  <a:t> 628</a:t>
                </a:r>
                <a:r>
                  <a:rPr lang="zh-CN" altLang="zh-CN" b="1"/>
                  <a:t>万</a:t>
                </a:r>
                <a:endPara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4" name="组合 2">
              <a:extLst>
                <a:ext uri="{FF2B5EF4-FFF2-40B4-BE49-F238E27FC236}">
                  <a16:creationId xmlns:a16="http://schemas.microsoft.com/office/drawing/2014/main" id="{FBE40D12-D7EF-36F6-47DF-681EA78093BD}"/>
                </a:ext>
              </a:extLst>
            </p:cNvPr>
            <p:cNvGrpSpPr/>
            <p:nvPr/>
          </p:nvGrpSpPr>
          <p:grpSpPr>
            <a:xfrm>
              <a:off x="5501354" y="1854110"/>
              <a:ext cx="2493784" cy="2511929"/>
              <a:chOff x="4416177" y="2072807"/>
              <a:chExt cx="2493784" cy="2511929"/>
            </a:xfrm>
          </p:grpSpPr>
          <p:sp>
            <p:nvSpPr>
              <p:cNvPr id="15" name="2">
                <a:extLst>
                  <a:ext uri="{FF2B5EF4-FFF2-40B4-BE49-F238E27FC236}">
                    <a16:creationId xmlns:a16="http://schemas.microsoft.com/office/drawing/2014/main" id="{A28BB0D2-33BB-1BA8-D708-48B92BD8721E}"/>
                  </a:ext>
                </a:extLst>
              </p:cNvPr>
              <p:cNvSpPr/>
              <p:nvPr/>
            </p:nvSpPr>
            <p:spPr>
              <a:xfrm rot="21119619">
                <a:off x="4416177" y="2072807"/>
                <a:ext cx="1176591" cy="825290"/>
              </a:xfrm>
              <a:custGeom>
                <a:avLst/>
                <a:gdLst>
                  <a:gd name="csX0" fmla="*/ 2152479 w 3651082"/>
                  <a:gd name="csY0" fmla="*/ 470 h 2560959"/>
                  <a:gd name="csX1" fmla="*/ 3106309 w 3651082"/>
                  <a:gd name="csY1" fmla="*/ 251414 h 2560959"/>
                  <a:gd name="csX2" fmla="*/ 3135408 w 3651082"/>
                  <a:gd name="csY2" fmla="*/ 268214 h 2560959"/>
                  <a:gd name="csX3" fmla="*/ 3351132 w 3651082"/>
                  <a:gd name="csY3" fmla="*/ 27876 h 2560959"/>
                  <a:gd name="csX4" fmla="*/ 3651082 w 3651082"/>
                  <a:gd name="csY4" fmla="*/ 947153 h 2560959"/>
                  <a:gd name="csX5" fmla="*/ 2705039 w 3651082"/>
                  <a:gd name="csY5" fmla="*/ 747395 h 2560959"/>
                  <a:gd name="csX6" fmla="*/ 2917764 w 3651082"/>
                  <a:gd name="csY6" fmla="*/ 510413 h 2560959"/>
                  <a:gd name="csX7" fmla="*/ 284450 w 3651082"/>
                  <a:gd name="csY7" fmla="*/ 1158976 h 2560959"/>
                  <a:gd name="csX8" fmla="*/ 28151 w 3651082"/>
                  <a:gd name="csY8" fmla="*/ 1872080 h 2560959"/>
                  <a:gd name="csX9" fmla="*/ 32060 w 3651082"/>
                  <a:gd name="csY9" fmla="*/ 2462323 h 2560959"/>
                  <a:gd name="csX10" fmla="*/ 52975 w 3651082"/>
                  <a:gd name="csY10" fmla="*/ 2560959 h 2560959"/>
                  <a:gd name="csX11" fmla="*/ 52601 w 3651082"/>
                  <a:gd name="csY11" fmla="*/ 2560959 h 2560959"/>
                  <a:gd name="csX12" fmla="*/ 27533 w 3651082"/>
                  <a:gd name="csY12" fmla="*/ 2444887 h 2560959"/>
                  <a:gd name="csX13" fmla="*/ 1559814 w 3651082"/>
                  <a:gd name="csY13" fmla="*/ 72567 h 2560959"/>
                  <a:gd name="csX14" fmla="*/ 2152479 w 3651082"/>
                  <a:gd name="csY14" fmla="*/ 470 h 25609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3651082" h="2560959">
                    <a:moveTo>
                      <a:pt x="2152479" y="470"/>
                    </a:moveTo>
                    <a:cubicBezTo>
                      <a:pt x="2483032" y="7444"/>
                      <a:pt x="2810205" y="92159"/>
                      <a:pt x="3106309" y="251414"/>
                    </a:cubicBezTo>
                    <a:cubicBezTo>
                      <a:pt x="3116009" y="257014"/>
                      <a:pt x="3125709" y="262614"/>
                      <a:pt x="3135408" y="268214"/>
                    </a:cubicBezTo>
                    <a:lnTo>
                      <a:pt x="3351132" y="27876"/>
                    </a:lnTo>
                    <a:lnTo>
                      <a:pt x="3651082" y="947153"/>
                    </a:lnTo>
                    <a:lnTo>
                      <a:pt x="2705039" y="747395"/>
                    </a:lnTo>
                    <a:lnTo>
                      <a:pt x="2917764" y="510413"/>
                    </a:lnTo>
                    <a:cubicBezTo>
                      <a:pt x="2011498" y="-37668"/>
                      <a:pt x="832532" y="252710"/>
                      <a:pt x="284450" y="1158976"/>
                    </a:cubicBezTo>
                    <a:cubicBezTo>
                      <a:pt x="152430" y="1377249"/>
                      <a:pt x="65304" y="1619706"/>
                      <a:pt x="28151" y="1872080"/>
                    </a:cubicBezTo>
                    <a:cubicBezTo>
                      <a:pt x="-505" y="2068266"/>
                      <a:pt x="926" y="2267285"/>
                      <a:pt x="32060" y="2462323"/>
                    </a:cubicBezTo>
                    <a:lnTo>
                      <a:pt x="52975" y="2560959"/>
                    </a:lnTo>
                    <a:lnTo>
                      <a:pt x="52601" y="2560959"/>
                    </a:lnTo>
                    <a:lnTo>
                      <a:pt x="27533" y="2444887"/>
                    </a:lnTo>
                    <a:cubicBezTo>
                      <a:pt x="-144707" y="1390668"/>
                      <a:pt x="506178" y="356425"/>
                      <a:pt x="1559814" y="72567"/>
                    </a:cubicBezTo>
                    <a:cubicBezTo>
                      <a:pt x="1754599" y="20087"/>
                      <a:pt x="1954148" y="-3715"/>
                      <a:pt x="2152479" y="470"/>
                    </a:cubicBezTo>
                    <a:close/>
                  </a:path>
                </a:pathLst>
              </a:custGeom>
              <a:gradFill flip="none" rotWithShape="0">
                <a:gsLst>
                  <a:gs pos="15000">
                    <a:schemeClr val="accent1"/>
                  </a:gs>
                  <a:gs pos="90000">
                    <a:schemeClr val="bg1">
                      <a:alpha val="0"/>
                    </a:schemeClr>
                  </a:gs>
                </a:gsLst>
                <a:lin ang="81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>
                <a:innerShdw blurRad="127000" dist="50800" dir="18900000">
                  <a:schemeClr val="accent1">
                    <a:lumMod val="40000"/>
                    <a:lumOff val="60000"/>
                    <a:alpha val="60000"/>
                  </a:schemeClr>
                </a:innerShdw>
              </a:effectLst>
            </p:spPr>
            <p:txBody>
              <a:bodyPr rtlCol="0" anchor="ctr"/>
              <a:lstStyle/>
              <a:p>
                <a:pPr algn="ctr" defTabSz="914400"/>
                <a:endParaRPr lang="zh-CN" altLang="en-US" sz="200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2">
                <a:extLst>
                  <a:ext uri="{FF2B5EF4-FFF2-40B4-BE49-F238E27FC236}">
                    <a16:creationId xmlns:a16="http://schemas.microsoft.com/office/drawing/2014/main" id="{598F661A-9B5E-B7CC-E6FE-076C8BE784B6}"/>
                  </a:ext>
                </a:extLst>
              </p:cNvPr>
              <p:cNvSpPr/>
              <p:nvPr/>
            </p:nvSpPr>
            <p:spPr>
              <a:xfrm>
                <a:off x="5272550" y="2471498"/>
                <a:ext cx="1637411" cy="2113238"/>
              </a:xfrm>
              <a:prstGeom prst="rect">
                <a:avLst/>
              </a:prstGeom>
              <a:solidFill>
                <a:schemeClr val="bg1"/>
              </a:solidFill>
              <a:ln>
                <a:gradFill flip="none" rotWithShape="1">
                  <a:gsLst>
                    <a:gs pos="20000">
                      <a:schemeClr val="bg1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5400000" scaled="1"/>
                  <a:tileRect/>
                </a:gradFill>
              </a:ln>
              <a:effectLst>
                <a:outerShdw blurRad="203200" dist="127000" dir="5400000" algn="tl" rotWithShape="0">
                  <a:schemeClr val="accent2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24" name="Index-2">
                <a:extLst>
                  <a:ext uri="{FF2B5EF4-FFF2-40B4-BE49-F238E27FC236}">
                    <a16:creationId xmlns:a16="http://schemas.microsoft.com/office/drawing/2014/main" id="{1CCF2C97-8BAE-16A2-9195-A6A0E62273C3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5383935" y="2526743"/>
                <a:ext cx="1414637" cy="358358"/>
              </a:xfrm>
              <a:prstGeom prst="rect">
                <a:avLst/>
              </a:prstGeom>
              <a:gradFill>
                <a:gsLst>
                  <a:gs pos="10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>
                <a:outerShdw blurRad="76200" dist="63500" dir="2700000" algn="tl" rotWithShape="0">
                  <a:schemeClr val="accent2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spc="50">
                    <a:solidFill>
                      <a:srgbClr val="FDFDFD"/>
                    </a:solidFill>
                  </a:rPr>
                  <a:t>动态调整后建议额度</a:t>
                </a:r>
                <a:endParaRPr lang="zh-CN" altLang="en-US" b="1" spc="50" dirty="0">
                  <a:solidFill>
                    <a:srgbClr val="FDFDFD"/>
                  </a:solidFill>
                </a:endParaRPr>
              </a:p>
            </p:txBody>
          </p:sp>
          <p:sp>
            <p:nvSpPr>
              <p:cNvPr id="27" name="Body-2">
                <a:extLst>
                  <a:ext uri="{FF2B5EF4-FFF2-40B4-BE49-F238E27FC236}">
                    <a16:creationId xmlns:a16="http://schemas.microsoft.com/office/drawing/2014/main" id="{BEBEADFE-A12A-40D2-0499-6346419F8BDB}"/>
                  </a:ext>
                </a:extLst>
              </p:cNvPr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383935" y="4276821"/>
                <a:ext cx="1414637" cy="228977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>
                <a:spAutoFit/>
              </a:bodyPr>
              <a:lstStyle/>
              <a:p>
                <a:pPr algn="just" hangingPunct="0">
                  <a:lnSpc>
                    <a:spcPct val="120000"/>
                  </a:lnSpc>
                  <a:defRPr/>
                </a:pPr>
                <a:endParaRPr lang="en-US" altLang="zh-CN" sz="1400" b="1"/>
              </a:p>
            </p:txBody>
          </p:sp>
        </p:grpSp>
      </p:grpSp>
      <p:sp>
        <p:nvSpPr>
          <p:cNvPr id="43" name="Body-1">
            <a:extLst>
              <a:ext uri="{FF2B5EF4-FFF2-40B4-BE49-F238E27FC236}">
                <a16:creationId xmlns:a16="http://schemas.microsoft.com/office/drawing/2014/main" id="{9ED2928A-9AEF-8F35-2E7E-1B5C4A39075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53003" y="4753056"/>
            <a:ext cx="3693200" cy="716084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algn="just" hangingPunct="0">
              <a:lnSpc>
                <a:spcPct val="120000"/>
              </a:lnSpc>
              <a:defRPr/>
            </a:pP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微软雅黑" panose="020B0503020204020204" pitchFamily="34" charset="-122"/>
              </a:rPr>
              <a:t>网络风险扣减</a:t>
            </a:r>
            <a:endParaRPr lang="en-US" altLang="zh-CN" b="1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+mn-ea"/>
              <a:sym typeface="微软雅黑" panose="020B0503020204020204" pitchFamily="34" charset="-122"/>
            </a:endParaRPr>
          </a:p>
          <a:p>
            <a:pPr algn="just" hangingPunct="0">
              <a:lnSpc>
                <a:spcPct val="120000"/>
              </a:lnSpc>
              <a:defRPr/>
            </a:pPr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微软雅黑" panose="020B0503020204020204" pitchFamily="34" charset="-122"/>
              </a:rPr>
              <a:t>=</a:t>
            </a:r>
            <a:r>
              <a:rPr lang="en-US" altLang="zh-CN" b="1"/>
              <a:t>(3000+628)×(0.20×0.16) </a:t>
            </a:r>
            <a:r>
              <a:rPr lang="zh-CN" altLang="en-US" b="1"/>
              <a:t>≈</a:t>
            </a:r>
            <a:r>
              <a:rPr lang="en-US" altLang="zh-CN" b="1"/>
              <a:t> 116</a:t>
            </a:r>
            <a:r>
              <a:rPr lang="zh-CN" altLang="zh-CN" b="1"/>
              <a:t>万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45" name="Body-1">
            <a:extLst>
              <a:ext uri="{FF2B5EF4-FFF2-40B4-BE49-F238E27FC236}">
                <a16:creationId xmlns:a16="http://schemas.microsoft.com/office/drawing/2014/main" id="{BB433655-6BA7-2B28-674F-931B180D37E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727540" y="3574823"/>
            <a:ext cx="3693200" cy="716085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algn="just" hangingPunct="0">
              <a:lnSpc>
                <a:spcPct val="120000"/>
              </a:lnSpc>
              <a:defRPr/>
            </a:pP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微软雅黑" panose="020B0503020204020204" pitchFamily="34" charset="-122"/>
              </a:rPr>
              <a:t>建议转型支持额度 </a:t>
            </a:r>
            <a:endParaRPr lang="en-US" altLang="zh-CN" b="1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+mn-ea"/>
              <a:sym typeface="微软雅黑" panose="020B0503020204020204" pitchFamily="34" charset="-122"/>
            </a:endParaRPr>
          </a:p>
          <a:p>
            <a:pPr algn="just" hangingPunct="0">
              <a:lnSpc>
                <a:spcPct val="120000"/>
              </a:lnSpc>
              <a:defRPr/>
            </a:pPr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微软雅黑" panose="020B0503020204020204" pitchFamily="34" charset="-122"/>
              </a:rPr>
              <a:t>= </a:t>
            </a:r>
            <a:r>
              <a:rPr lang="en-US" altLang="zh-CN" b="1"/>
              <a:t>1000×0.80×0.74×0.95 </a:t>
            </a:r>
            <a:r>
              <a:rPr lang="zh-CN" altLang="en-US" b="1"/>
              <a:t>≈</a:t>
            </a:r>
            <a:r>
              <a:rPr lang="en-US" altLang="zh-CN" b="1"/>
              <a:t> 562</a:t>
            </a:r>
            <a:r>
              <a:rPr lang="zh-CN" altLang="zh-CN" b="1"/>
              <a:t>万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47" name="Body-1">
            <a:extLst>
              <a:ext uri="{FF2B5EF4-FFF2-40B4-BE49-F238E27FC236}">
                <a16:creationId xmlns:a16="http://schemas.microsoft.com/office/drawing/2014/main" id="{3C457863-E574-B77D-1AAF-30E77D53E5F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727540" y="4352391"/>
            <a:ext cx="3693200" cy="716084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algn="just" hangingPunct="0">
              <a:lnSpc>
                <a:spcPct val="120000"/>
              </a:lnSpc>
              <a:defRPr/>
            </a:pP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微软雅黑" panose="020B0503020204020204" pitchFamily="34" charset="-122"/>
              </a:rPr>
              <a:t>建议新网络风险扣减</a:t>
            </a:r>
            <a:endParaRPr lang="en-US" altLang="zh-CN" b="1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+mn-ea"/>
              <a:sym typeface="微软雅黑" panose="020B0503020204020204" pitchFamily="34" charset="-122"/>
            </a:endParaRPr>
          </a:p>
          <a:p>
            <a:pPr algn="just" hangingPunct="0">
              <a:lnSpc>
                <a:spcPct val="120000"/>
              </a:lnSpc>
              <a:defRPr/>
            </a:pPr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微软雅黑" panose="020B0503020204020204" pitchFamily="34" charset="-122"/>
              </a:rPr>
              <a:t>=</a:t>
            </a:r>
            <a:r>
              <a:rPr lang="en-US" altLang="zh-CN" b="1"/>
              <a:t>(3000+628)×(0.20×0.31) </a:t>
            </a:r>
            <a:r>
              <a:rPr lang="zh-CN" altLang="en-US" b="1"/>
              <a:t>≈</a:t>
            </a:r>
            <a:r>
              <a:rPr lang="en-US" altLang="zh-CN" b="1"/>
              <a:t> 221</a:t>
            </a:r>
            <a:r>
              <a:rPr lang="zh-CN" altLang="zh-CN" b="1"/>
              <a:t>万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A09BF73C-B4E5-B9BF-28C1-5007F2422779}"/>
              </a:ext>
            </a:extLst>
          </p:cNvPr>
          <p:cNvSpPr txBox="1"/>
          <p:nvPr/>
        </p:nvSpPr>
        <p:spPr>
          <a:xfrm>
            <a:off x="6727540" y="5179373"/>
            <a:ext cx="36058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kern="120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最终建议额度降至约</a:t>
            </a:r>
            <a:r>
              <a:rPr lang="en-US" altLang="zh-CN" b="1" kern="120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3,341</a:t>
            </a:r>
            <a:r>
              <a:rPr lang="zh-CN" altLang="zh-CN" b="1" kern="120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万元。</a:t>
            </a:r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016CE457-7DF9-69D8-9178-ECBAC6819820}"/>
              </a:ext>
            </a:extLst>
          </p:cNvPr>
          <p:cNvSpPr txBox="1"/>
          <p:nvPr/>
        </p:nvSpPr>
        <p:spPr>
          <a:xfrm>
            <a:off x="961717" y="5568709"/>
            <a:ext cx="36058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kern="120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建议额度约</a:t>
            </a:r>
            <a:r>
              <a:rPr lang="zh-CN" altLang="en-US" b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b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3512</a:t>
            </a:r>
            <a:r>
              <a:rPr lang="zh-CN" altLang="zh-CN" b="1" kern="120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万元。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5835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41E20-DC61-783D-AB16-CD4D54C47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C4D63E2-EE38-132E-13D0-8235C0C66A83}"/>
              </a:ext>
            </a:extLst>
          </p:cNvPr>
          <p:cNvSpPr/>
          <p:nvPr/>
        </p:nvSpPr>
        <p:spPr>
          <a:xfrm>
            <a:off x="0" y="0"/>
            <a:ext cx="12192000" cy="925286"/>
          </a:xfrm>
          <a:prstGeom prst="rect">
            <a:avLst/>
          </a:prstGeom>
          <a:gradFill>
            <a:gsLst>
              <a:gs pos="32000">
                <a:srgbClr val="52C2BC">
                  <a:alpha val="50000"/>
                </a:srgbClr>
              </a:gs>
              <a:gs pos="72000">
                <a:srgbClr val="40B8B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A9EB8DD0-9023-00C0-8942-1A60495B0CA2}"/>
              </a:ext>
            </a:extLst>
          </p:cNvPr>
          <p:cNvSpPr/>
          <p:nvPr/>
        </p:nvSpPr>
        <p:spPr>
          <a:xfrm>
            <a:off x="3182814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69C59706-4A93-0540-C80C-FA7867DE898F}"/>
              </a:ext>
            </a:extLst>
          </p:cNvPr>
          <p:cNvSpPr/>
          <p:nvPr/>
        </p:nvSpPr>
        <p:spPr>
          <a:xfrm>
            <a:off x="5417788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>
            <a:extLst>
              <a:ext uri="{FF2B5EF4-FFF2-40B4-BE49-F238E27FC236}">
                <a16:creationId xmlns:a16="http://schemas.microsoft.com/office/drawing/2014/main" id="{F015FC5F-566F-7871-2C9F-596E5C1E1DA9}"/>
              </a:ext>
            </a:extLst>
          </p:cNvPr>
          <p:cNvSpPr/>
          <p:nvPr/>
        </p:nvSpPr>
        <p:spPr>
          <a:xfrm>
            <a:off x="7652762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平行四边形 8">
            <a:extLst>
              <a:ext uri="{FF2B5EF4-FFF2-40B4-BE49-F238E27FC236}">
                <a16:creationId xmlns:a16="http://schemas.microsoft.com/office/drawing/2014/main" id="{263E1500-1615-DB33-4985-C6B9F6FF5697}"/>
              </a:ext>
            </a:extLst>
          </p:cNvPr>
          <p:cNvSpPr/>
          <p:nvPr/>
        </p:nvSpPr>
        <p:spPr>
          <a:xfrm>
            <a:off x="9887736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>
            <a:extLst>
              <a:ext uri="{FF2B5EF4-FFF2-40B4-BE49-F238E27FC236}">
                <a16:creationId xmlns:a16="http://schemas.microsoft.com/office/drawing/2014/main" id="{C4C1814D-043D-3F3F-C009-077B9B99A330}"/>
              </a:ext>
            </a:extLst>
          </p:cNvPr>
          <p:cNvSpPr/>
          <p:nvPr/>
        </p:nvSpPr>
        <p:spPr>
          <a:xfrm>
            <a:off x="9887736" y="374573"/>
            <a:ext cx="2108811" cy="688554"/>
          </a:xfrm>
          <a:prstGeom prst="parallelogram">
            <a:avLst/>
          </a:prstGeom>
          <a:solidFill>
            <a:srgbClr val="36A09A"/>
          </a:solidFill>
          <a:ln>
            <a:solidFill>
              <a:srgbClr val="36A0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/>
              <a:t>页面展示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77BA2B52-2DDC-D27C-E524-2095EA8F85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6" y="132202"/>
            <a:ext cx="532967" cy="539826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463790A2-2AE9-78EF-42FF-43456A96FC49}"/>
              </a:ext>
            </a:extLst>
          </p:cNvPr>
          <p:cNvSpPr txBox="1"/>
          <p:nvPr/>
        </p:nvSpPr>
        <p:spPr>
          <a:xfrm>
            <a:off x="599503" y="137792"/>
            <a:ext cx="28047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104862"/>
                </a:solidFill>
              </a:rPr>
              <a:t>工银‘’碳跃智衡’’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53E923D-041D-14FA-8088-F45C2F0E02DA}"/>
              </a:ext>
            </a:extLst>
          </p:cNvPr>
          <p:cNvSpPr/>
          <p:nvPr/>
        </p:nvSpPr>
        <p:spPr>
          <a:xfrm>
            <a:off x="2145349" y="1211854"/>
            <a:ext cx="1037465" cy="580616"/>
          </a:xfrm>
          <a:prstGeom prst="roundRect">
            <a:avLst/>
          </a:prstGeom>
          <a:gradFill>
            <a:gsLst>
              <a:gs pos="32000">
                <a:srgbClr val="52C2BC">
                  <a:alpha val="50000"/>
                </a:srgbClr>
              </a:gs>
              <a:gs pos="72000">
                <a:srgbClr val="40B8B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zh-CN" altLang="en-US" sz="2000" b="1">
                <a:solidFill>
                  <a:schemeClr val="tx1"/>
                </a:solidFill>
              </a:rPr>
              <a:t>企业端</a:t>
            </a:r>
            <a:endParaRPr lang="zh-CN" altLang="zh-CN" sz="2000">
              <a:solidFill>
                <a:schemeClr val="tx1"/>
              </a:solidFill>
            </a:endParaRPr>
          </a:p>
        </p:txBody>
      </p:sp>
      <p:sp>
        <p:nvSpPr>
          <p:cNvPr id="22" name="矩形: 对角圆角 21">
            <a:extLst>
              <a:ext uri="{FF2B5EF4-FFF2-40B4-BE49-F238E27FC236}">
                <a16:creationId xmlns:a16="http://schemas.microsoft.com/office/drawing/2014/main" id="{3A2B2957-1290-CEBA-85CF-04F6FE9937FB}"/>
              </a:ext>
            </a:extLst>
          </p:cNvPr>
          <p:cNvSpPr/>
          <p:nvPr/>
        </p:nvSpPr>
        <p:spPr>
          <a:xfrm>
            <a:off x="66536" y="1193757"/>
            <a:ext cx="1970314" cy="598713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>
                <a:solidFill>
                  <a:schemeClr val="tx1"/>
                </a:solidFill>
              </a:rPr>
              <a:t>页面展示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213C943-0C72-744A-267E-49710B3D441A}"/>
              </a:ext>
            </a:extLst>
          </p:cNvPr>
          <p:cNvSpPr txBox="1"/>
          <p:nvPr/>
        </p:nvSpPr>
        <p:spPr>
          <a:xfrm>
            <a:off x="2732315" y="2807252"/>
            <a:ext cx="6096000" cy="29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spcAft>
                <a:spcPts val="30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zh-CN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企业端建立</a:t>
            </a:r>
            <a:r>
              <a:rPr lang="en-US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“</a:t>
            </a:r>
            <a:r>
              <a:rPr lang="zh-CN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转型账户</a:t>
            </a:r>
            <a:r>
              <a:rPr lang="en-US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”</a:t>
            </a:r>
            <a:r>
              <a:rPr lang="zh-CN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：展示当前碳基线、行业基准和转型项目，明确企业虽然当前高碳，但有清晰转型路径。</a:t>
            </a:r>
          </a:p>
          <a:p>
            <a:pPr marL="342900" lvl="0" indent="-342900">
              <a:lnSpc>
                <a:spcPct val="150000"/>
              </a:lnSpc>
              <a:spcAft>
                <a:spcPts val="30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zh-CN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真实减排页：展示总排放下降后，</a:t>
            </a:r>
            <a:r>
              <a:rPr lang="en-US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LMDI</a:t>
            </a:r>
            <a:r>
              <a:rPr lang="zh-CN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进一步识别其中多少来自能效和能源结构改善，多少来自产量变化。</a:t>
            </a:r>
          </a:p>
          <a:p>
            <a:pPr marL="342900" lvl="0" indent="-342900">
              <a:lnSpc>
                <a:spcPct val="150000"/>
              </a:lnSpc>
              <a:spcAft>
                <a:spcPts val="30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zh-CN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转型可信度页：显示</a:t>
            </a:r>
            <a:r>
              <a:rPr lang="en-US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82.6%</a:t>
            </a:r>
            <a:r>
              <a:rPr lang="zh-CN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达标概率</a:t>
            </a:r>
            <a:r>
              <a:rPr lang="en-US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/826</a:t>
            </a:r>
            <a:r>
              <a:rPr lang="zh-CN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分，并用</a:t>
            </a:r>
            <a:r>
              <a:rPr lang="en-US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SHAP</a:t>
            </a:r>
            <a:r>
              <a:rPr lang="zh-CN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展示主要正负驱动。</a:t>
            </a:r>
          </a:p>
          <a:p>
            <a:pPr marL="342900" lvl="0" indent="-342900">
              <a:lnSpc>
                <a:spcPct val="150000"/>
              </a:lnSpc>
              <a:spcAft>
                <a:spcPts val="30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zh-CN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银行端企业评估页：基础额度</a:t>
            </a:r>
            <a:r>
              <a:rPr lang="en-US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3,000</a:t>
            </a:r>
            <a:r>
              <a:rPr lang="zh-CN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万元</a:t>
            </a:r>
            <a:r>
              <a:rPr lang="en-US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 + </a:t>
            </a:r>
            <a:r>
              <a:rPr lang="zh-CN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转型支持</a:t>
            </a:r>
            <a:r>
              <a:rPr lang="en-US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628</a:t>
            </a:r>
            <a:r>
              <a:rPr lang="zh-CN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万元。</a:t>
            </a:r>
          </a:p>
          <a:p>
            <a:pPr marL="342900" lvl="0" indent="-342900">
              <a:lnSpc>
                <a:spcPct val="150000"/>
              </a:lnSpc>
              <a:spcAft>
                <a:spcPts val="30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zh-CN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园区风险图谱：点击</a:t>
            </a:r>
            <a:r>
              <a:rPr lang="en-US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“</a:t>
            </a:r>
            <a:r>
              <a:rPr lang="zh-CN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天然气价格</a:t>
            </a:r>
            <a:r>
              <a:rPr lang="en-US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+30%”</a:t>
            </a:r>
            <a:r>
              <a:rPr lang="zh-CN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，网络高亮一阶</a:t>
            </a:r>
            <a:r>
              <a:rPr lang="en-US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/</a:t>
            </a:r>
            <a:r>
              <a:rPr lang="zh-CN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二阶风险路径，关联风险扣减从</a:t>
            </a:r>
            <a:r>
              <a:rPr lang="en-US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116</a:t>
            </a:r>
            <a:r>
              <a:rPr lang="zh-CN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万元上升到</a:t>
            </a:r>
            <a:r>
              <a:rPr lang="en-US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221</a:t>
            </a:r>
            <a:r>
              <a:rPr lang="zh-CN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万元。</a:t>
            </a:r>
          </a:p>
          <a:p>
            <a:pPr marL="342900" lvl="0" indent="-342900">
              <a:lnSpc>
                <a:spcPct val="150000"/>
              </a:lnSpc>
              <a:spcAft>
                <a:spcPts val="30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zh-CN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动态融资页：最终建议额度从</a:t>
            </a:r>
            <a:r>
              <a:rPr lang="en-US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3,512</a:t>
            </a:r>
            <a:r>
              <a:rPr lang="zh-CN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万元降至</a:t>
            </a:r>
            <a:r>
              <a:rPr lang="en-US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3,341</a:t>
            </a:r>
            <a:r>
              <a:rPr lang="zh-CN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万元，同时</a:t>
            </a:r>
            <a:r>
              <a:rPr lang="en-US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RAROC</a:t>
            </a:r>
            <a:r>
              <a:rPr lang="zh-CN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和预警等级变化。</a:t>
            </a:r>
          </a:p>
          <a:p>
            <a:pPr marL="342900" lvl="0" indent="-342900">
              <a:lnSpc>
                <a:spcPct val="150000"/>
              </a:lnSpc>
              <a:spcAft>
                <a:spcPts val="30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zh-CN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防漂绿预警：出现资金用途或项目进度异常，系统生成核查动作，完成</a:t>
            </a:r>
            <a:r>
              <a:rPr lang="en-US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“</a:t>
            </a:r>
            <a:r>
              <a:rPr lang="zh-CN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识别</a:t>
            </a:r>
            <a:r>
              <a:rPr lang="en-US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—</a:t>
            </a:r>
            <a:r>
              <a:rPr lang="zh-CN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融资</a:t>
            </a:r>
            <a:r>
              <a:rPr lang="en-US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—</a:t>
            </a:r>
            <a:r>
              <a:rPr lang="zh-CN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监测</a:t>
            </a:r>
            <a:r>
              <a:rPr lang="en-US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—</a:t>
            </a:r>
            <a:r>
              <a:rPr lang="zh-CN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反馈</a:t>
            </a:r>
            <a:r>
              <a:rPr lang="en-US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”</a:t>
            </a:r>
            <a:r>
              <a:rPr lang="zh-CN" altLang="zh-CN" sz="105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闭环。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547E078-EC60-1C94-F36A-12E8A3A5FC2C}"/>
              </a:ext>
            </a:extLst>
          </p:cNvPr>
          <p:cNvSpPr txBox="1"/>
          <p:nvPr/>
        </p:nvSpPr>
        <p:spPr>
          <a:xfrm>
            <a:off x="1051693" y="2775857"/>
            <a:ext cx="1266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 待完善</a:t>
            </a:r>
          </a:p>
        </p:txBody>
      </p:sp>
    </p:spTree>
    <p:extLst>
      <p:ext uri="{BB962C8B-B14F-4D97-AF65-F5344CB8AC3E}">
        <p14:creationId xmlns:p14="http://schemas.microsoft.com/office/powerpoint/2010/main" val="32212204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A559-5873-C161-42CE-1005492B2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A444B0A-7FA6-D258-D7FB-B017A136F39D}"/>
              </a:ext>
            </a:extLst>
          </p:cNvPr>
          <p:cNvSpPr/>
          <p:nvPr/>
        </p:nvSpPr>
        <p:spPr>
          <a:xfrm>
            <a:off x="0" y="0"/>
            <a:ext cx="12192000" cy="925286"/>
          </a:xfrm>
          <a:prstGeom prst="rect">
            <a:avLst/>
          </a:prstGeom>
          <a:gradFill>
            <a:gsLst>
              <a:gs pos="32000">
                <a:srgbClr val="52C2BC">
                  <a:alpha val="50000"/>
                </a:srgbClr>
              </a:gs>
              <a:gs pos="72000">
                <a:srgbClr val="40B8B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F558E4A2-EF8E-5EB4-4657-731EF4B6AF6C}"/>
              </a:ext>
            </a:extLst>
          </p:cNvPr>
          <p:cNvSpPr/>
          <p:nvPr/>
        </p:nvSpPr>
        <p:spPr>
          <a:xfrm>
            <a:off x="3182814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7D118317-AA9E-9163-FBDB-DC05D16CAA7A}"/>
              </a:ext>
            </a:extLst>
          </p:cNvPr>
          <p:cNvSpPr/>
          <p:nvPr/>
        </p:nvSpPr>
        <p:spPr>
          <a:xfrm>
            <a:off x="5417788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>
            <a:extLst>
              <a:ext uri="{FF2B5EF4-FFF2-40B4-BE49-F238E27FC236}">
                <a16:creationId xmlns:a16="http://schemas.microsoft.com/office/drawing/2014/main" id="{C4A0FC65-27A2-070D-E1C4-AD8947C5A1AE}"/>
              </a:ext>
            </a:extLst>
          </p:cNvPr>
          <p:cNvSpPr/>
          <p:nvPr/>
        </p:nvSpPr>
        <p:spPr>
          <a:xfrm>
            <a:off x="7652762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平行四边形 8">
            <a:extLst>
              <a:ext uri="{FF2B5EF4-FFF2-40B4-BE49-F238E27FC236}">
                <a16:creationId xmlns:a16="http://schemas.microsoft.com/office/drawing/2014/main" id="{44492BD6-3FC5-6F34-804A-65F6AF9C1BCC}"/>
              </a:ext>
            </a:extLst>
          </p:cNvPr>
          <p:cNvSpPr/>
          <p:nvPr/>
        </p:nvSpPr>
        <p:spPr>
          <a:xfrm>
            <a:off x="9887736" y="523301"/>
            <a:ext cx="2027103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>
            <a:extLst>
              <a:ext uri="{FF2B5EF4-FFF2-40B4-BE49-F238E27FC236}">
                <a16:creationId xmlns:a16="http://schemas.microsoft.com/office/drawing/2014/main" id="{DD04DE60-3CE6-FB49-533C-7D4AFBD1F8D6}"/>
              </a:ext>
            </a:extLst>
          </p:cNvPr>
          <p:cNvSpPr/>
          <p:nvPr/>
        </p:nvSpPr>
        <p:spPr>
          <a:xfrm>
            <a:off x="9887736" y="374573"/>
            <a:ext cx="2108811" cy="688554"/>
          </a:xfrm>
          <a:prstGeom prst="parallelogram">
            <a:avLst/>
          </a:prstGeom>
          <a:solidFill>
            <a:srgbClr val="36A09A"/>
          </a:solidFill>
          <a:ln>
            <a:solidFill>
              <a:srgbClr val="36A0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/>
              <a:t>页面展示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75712EED-6918-93C3-8AAB-716B0B9C79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6" y="132202"/>
            <a:ext cx="532967" cy="539826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C9EAEB5A-AFF8-D358-7C9E-68F417A8121A}"/>
              </a:ext>
            </a:extLst>
          </p:cNvPr>
          <p:cNvSpPr txBox="1"/>
          <p:nvPr/>
        </p:nvSpPr>
        <p:spPr>
          <a:xfrm>
            <a:off x="599503" y="137792"/>
            <a:ext cx="28047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104862"/>
                </a:solidFill>
              </a:rPr>
              <a:t>工银‘’碳跃智衡’’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31A2570F-94DF-2CD8-1B33-B9767B94B301}"/>
              </a:ext>
            </a:extLst>
          </p:cNvPr>
          <p:cNvSpPr/>
          <p:nvPr/>
        </p:nvSpPr>
        <p:spPr>
          <a:xfrm>
            <a:off x="2145349" y="1211854"/>
            <a:ext cx="1037465" cy="580616"/>
          </a:xfrm>
          <a:prstGeom prst="roundRect">
            <a:avLst/>
          </a:prstGeom>
          <a:gradFill>
            <a:gsLst>
              <a:gs pos="32000">
                <a:srgbClr val="52C2BC">
                  <a:alpha val="50000"/>
                </a:srgbClr>
              </a:gs>
              <a:gs pos="72000">
                <a:srgbClr val="40B8B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zh-CN" altLang="en-US" sz="2000" b="1">
                <a:solidFill>
                  <a:schemeClr val="tx1"/>
                </a:solidFill>
              </a:rPr>
              <a:t>银行端</a:t>
            </a:r>
            <a:endParaRPr lang="zh-CN" altLang="zh-CN" sz="2000">
              <a:solidFill>
                <a:schemeClr val="tx1"/>
              </a:solidFill>
            </a:endParaRPr>
          </a:p>
        </p:txBody>
      </p:sp>
      <p:sp>
        <p:nvSpPr>
          <p:cNvPr id="22" name="矩形: 对角圆角 21">
            <a:extLst>
              <a:ext uri="{FF2B5EF4-FFF2-40B4-BE49-F238E27FC236}">
                <a16:creationId xmlns:a16="http://schemas.microsoft.com/office/drawing/2014/main" id="{20ABB26C-1E37-0840-6EF0-790687385378}"/>
              </a:ext>
            </a:extLst>
          </p:cNvPr>
          <p:cNvSpPr/>
          <p:nvPr/>
        </p:nvSpPr>
        <p:spPr>
          <a:xfrm>
            <a:off x="66536" y="1193757"/>
            <a:ext cx="1970314" cy="598713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>
                <a:solidFill>
                  <a:schemeClr val="tx1"/>
                </a:solidFill>
              </a:rPr>
              <a:t>页面展示</a:t>
            </a:r>
          </a:p>
        </p:txBody>
      </p:sp>
    </p:spTree>
    <p:extLst>
      <p:ext uri="{BB962C8B-B14F-4D97-AF65-F5344CB8AC3E}">
        <p14:creationId xmlns:p14="http://schemas.microsoft.com/office/powerpoint/2010/main" val="26361184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98C93B-7D6D-530A-293E-15E41BCD1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7110B2B7-9035-9F4A-D1E6-06B03CC6FF3D}"/>
              </a:ext>
            </a:extLst>
          </p:cNvPr>
          <p:cNvSpPr txBox="1"/>
          <p:nvPr/>
        </p:nvSpPr>
        <p:spPr>
          <a:xfrm>
            <a:off x="810986" y="2577536"/>
            <a:ext cx="1073875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/>
              <a:t> </a:t>
            </a:r>
            <a:r>
              <a:rPr lang="zh-CN" altLang="en-US" sz="8000" b="1">
                <a:solidFill>
                  <a:schemeClr val="accent4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竞争优势与可行性分析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243EA94-ADBC-2FE6-EBEC-F1A25C333B2A}"/>
              </a:ext>
            </a:extLst>
          </p:cNvPr>
          <p:cNvSpPr txBox="1"/>
          <p:nvPr/>
        </p:nvSpPr>
        <p:spPr>
          <a:xfrm>
            <a:off x="3947886" y="1746539"/>
            <a:ext cx="4296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>
                <a:solidFill>
                  <a:schemeClr val="accent4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PART THREE</a:t>
            </a:r>
            <a:endParaRPr lang="zh-CN" altLang="en-US" sz="4800" b="1">
              <a:solidFill>
                <a:schemeClr val="accent4">
                  <a:lumMod val="50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37676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0B144-1684-5F35-E69A-3543BA2B8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FF5A50E-80E2-F06E-6E69-131F28096B17}"/>
              </a:ext>
            </a:extLst>
          </p:cNvPr>
          <p:cNvSpPr/>
          <p:nvPr/>
        </p:nvSpPr>
        <p:spPr>
          <a:xfrm>
            <a:off x="0" y="0"/>
            <a:ext cx="12192000" cy="925286"/>
          </a:xfrm>
          <a:prstGeom prst="rect">
            <a:avLst/>
          </a:prstGeom>
          <a:gradFill>
            <a:gsLst>
              <a:gs pos="32000">
                <a:srgbClr val="52C2BC">
                  <a:alpha val="50000"/>
                </a:srgbClr>
              </a:gs>
              <a:gs pos="72000">
                <a:srgbClr val="40B8B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67CFFEC1-3F51-3882-491F-0E4B3975DD82}"/>
              </a:ext>
            </a:extLst>
          </p:cNvPr>
          <p:cNvSpPr/>
          <p:nvPr/>
        </p:nvSpPr>
        <p:spPr>
          <a:xfrm>
            <a:off x="3937179" y="495597"/>
            <a:ext cx="2322107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>
            <a:extLst>
              <a:ext uri="{FF2B5EF4-FFF2-40B4-BE49-F238E27FC236}">
                <a16:creationId xmlns:a16="http://schemas.microsoft.com/office/drawing/2014/main" id="{DA278E95-EDBD-E458-4A11-D6AB29A9A230}"/>
              </a:ext>
            </a:extLst>
          </p:cNvPr>
          <p:cNvSpPr/>
          <p:nvPr/>
        </p:nvSpPr>
        <p:spPr>
          <a:xfrm>
            <a:off x="3937179" y="387443"/>
            <a:ext cx="2398574" cy="636420"/>
          </a:xfrm>
          <a:prstGeom prst="parallelogram">
            <a:avLst/>
          </a:prstGeom>
          <a:solidFill>
            <a:srgbClr val="36A09A"/>
          </a:solidFill>
          <a:ln>
            <a:solidFill>
              <a:srgbClr val="36A0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/>
              <a:t>竞争优势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9A639AC2-2199-A958-2173-CC86980FD2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6" y="132202"/>
            <a:ext cx="532967" cy="539826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D1ABFBE4-8817-003E-7CE2-0E1272C71573}"/>
              </a:ext>
            </a:extLst>
          </p:cNvPr>
          <p:cNvSpPr txBox="1"/>
          <p:nvPr/>
        </p:nvSpPr>
        <p:spPr>
          <a:xfrm>
            <a:off x="599503" y="137792"/>
            <a:ext cx="28047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104862"/>
                </a:solidFill>
              </a:rPr>
              <a:t>工银‘’碳跃智衡’’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3C86A76-BCF8-1DE3-D24A-548055E47172}"/>
              </a:ext>
            </a:extLst>
          </p:cNvPr>
          <p:cNvSpPr/>
          <p:nvPr/>
        </p:nvSpPr>
        <p:spPr>
          <a:xfrm>
            <a:off x="2145349" y="1211854"/>
            <a:ext cx="4113937" cy="580616"/>
          </a:xfrm>
          <a:prstGeom prst="roundRect">
            <a:avLst/>
          </a:prstGeom>
          <a:gradFill>
            <a:gsLst>
              <a:gs pos="32000">
                <a:srgbClr val="52C2BC">
                  <a:alpha val="50000"/>
                </a:srgbClr>
              </a:gs>
              <a:gs pos="72000">
                <a:srgbClr val="40B8B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zh-CN" altLang="en-US" sz="2000" b="1">
                <a:solidFill>
                  <a:schemeClr val="tx1"/>
                </a:solidFill>
              </a:rPr>
              <a:t>同业碳授信工具</a:t>
            </a:r>
            <a:r>
              <a:rPr lang="en-US" altLang="zh-CN" sz="2000" b="1">
                <a:solidFill>
                  <a:schemeClr val="tx1"/>
                </a:solidFill>
              </a:rPr>
              <a:t>VS</a:t>
            </a:r>
            <a:r>
              <a:rPr lang="zh-CN" altLang="en-US" sz="2000" b="1">
                <a:solidFill>
                  <a:schemeClr val="tx1"/>
                </a:solidFill>
              </a:rPr>
              <a:t>本平台能力对标</a:t>
            </a:r>
            <a:endParaRPr lang="zh-CN" altLang="zh-CN" sz="2000" b="1">
              <a:solidFill>
                <a:schemeClr val="tx1"/>
              </a:solidFill>
            </a:endParaRPr>
          </a:p>
        </p:txBody>
      </p:sp>
      <p:sp>
        <p:nvSpPr>
          <p:cNvPr id="22" name="矩形: 对角圆角 21">
            <a:extLst>
              <a:ext uri="{FF2B5EF4-FFF2-40B4-BE49-F238E27FC236}">
                <a16:creationId xmlns:a16="http://schemas.microsoft.com/office/drawing/2014/main" id="{8B84575D-6601-6453-27FA-AEE8B871E797}"/>
              </a:ext>
            </a:extLst>
          </p:cNvPr>
          <p:cNvSpPr/>
          <p:nvPr/>
        </p:nvSpPr>
        <p:spPr>
          <a:xfrm>
            <a:off x="66536" y="1193757"/>
            <a:ext cx="1970314" cy="598713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>
                <a:solidFill>
                  <a:schemeClr val="tx1"/>
                </a:solidFill>
              </a:rPr>
              <a:t>竞争优势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7894FB4-DC85-D7E7-8D81-E17DCE316C4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9" t="9066" r="4880" b="10864"/>
          <a:stretch>
            <a:fillRect/>
          </a:stretch>
        </p:blipFill>
        <p:spPr>
          <a:xfrm>
            <a:off x="2785611" y="1916608"/>
            <a:ext cx="8098541" cy="457252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D6EC5AF-ED32-8B26-77DC-7F8692F27B6F}"/>
              </a:ext>
            </a:extLst>
          </p:cNvPr>
          <p:cNvSpPr txBox="1"/>
          <p:nvPr/>
        </p:nvSpPr>
        <p:spPr>
          <a:xfrm>
            <a:off x="301225" y="3773372"/>
            <a:ext cx="2569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/>
              <a:t>信贷决策输出能力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A3A5CE0-649F-FE52-B8B3-56B9215E2CA7}"/>
              </a:ext>
            </a:extLst>
          </p:cNvPr>
          <p:cNvSpPr txBox="1"/>
          <p:nvPr/>
        </p:nvSpPr>
        <p:spPr>
          <a:xfrm>
            <a:off x="248018" y="3007480"/>
            <a:ext cx="2569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/>
              <a:t>转型真实性核验逻辑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57877A8-5200-C45E-0491-3A6CED2A593B}"/>
              </a:ext>
            </a:extLst>
          </p:cNvPr>
          <p:cNvSpPr txBox="1"/>
          <p:nvPr/>
        </p:nvSpPr>
        <p:spPr>
          <a:xfrm>
            <a:off x="281538" y="4722541"/>
            <a:ext cx="2569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/>
              <a:t>风险评估覆盖范围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E32FD9D-C668-0210-C7E9-BAF88F0BCE50}"/>
              </a:ext>
            </a:extLst>
          </p:cNvPr>
          <p:cNvSpPr txBox="1"/>
          <p:nvPr/>
        </p:nvSpPr>
        <p:spPr>
          <a:xfrm>
            <a:off x="216582" y="5538389"/>
            <a:ext cx="2569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/>
              <a:t>全周期监测能力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3617DFF-A937-9D66-0104-5850C663753E}"/>
              </a:ext>
            </a:extLst>
          </p:cNvPr>
          <p:cNvSpPr txBox="1"/>
          <p:nvPr/>
        </p:nvSpPr>
        <p:spPr>
          <a:xfrm>
            <a:off x="402056" y="2180033"/>
            <a:ext cx="1970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50000"/>
                    <a:lumOff val="50000"/>
                  </a:schemeClr>
                </a:solidFill>
              </a:rPr>
              <a:t>对比维度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8AD9FFF-C14C-E343-44CF-1281B05453A7}"/>
              </a:ext>
            </a:extLst>
          </p:cNvPr>
          <p:cNvSpPr txBox="1"/>
          <p:nvPr/>
        </p:nvSpPr>
        <p:spPr>
          <a:xfrm>
            <a:off x="3729935" y="2176554"/>
            <a:ext cx="2360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2">
                    <a:lumMod val="75000"/>
                    <a:lumOff val="25000"/>
                  </a:schemeClr>
                </a:solidFill>
              </a:rPr>
              <a:t>同业碳授信工具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2F6E696-A2B2-2E1C-B571-2078C2BA6E35}"/>
              </a:ext>
            </a:extLst>
          </p:cNvPr>
          <p:cNvSpPr txBox="1"/>
          <p:nvPr/>
        </p:nvSpPr>
        <p:spPr>
          <a:xfrm>
            <a:off x="8124856" y="2176554"/>
            <a:ext cx="23697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>
                <a:solidFill>
                  <a:schemeClr val="accent3"/>
                </a:solidFill>
              </a:rPr>
              <a:t>工银‘‘碳跃智衡’’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4BA4BA4-9EAD-A353-01B4-5D7A1B3C10D2}"/>
              </a:ext>
            </a:extLst>
          </p:cNvPr>
          <p:cNvSpPr txBox="1"/>
          <p:nvPr/>
        </p:nvSpPr>
        <p:spPr>
          <a:xfrm>
            <a:off x="3647587" y="3045784"/>
            <a:ext cx="3535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spc="-150"/>
              <a:t>只看碳排数值，难以分辨真假转型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60A7FD2-E72D-8E1F-B79C-E0C65C40DA46}"/>
              </a:ext>
            </a:extLst>
          </p:cNvPr>
          <p:cNvSpPr txBox="1"/>
          <p:nvPr/>
        </p:nvSpPr>
        <p:spPr>
          <a:xfrm>
            <a:off x="3647588" y="3678978"/>
            <a:ext cx="37007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spc="-150"/>
              <a:t>仅输出碳效分数，需人工二次解读，无法直接生成授信额度、差异化定价参考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DC7E40D-87A1-6BDB-286C-8DDE0CC9158F}"/>
              </a:ext>
            </a:extLst>
          </p:cNvPr>
          <p:cNvSpPr txBox="1"/>
          <p:nvPr/>
        </p:nvSpPr>
        <p:spPr>
          <a:xfrm>
            <a:off x="3647587" y="4886017"/>
            <a:ext cx="37007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spc="-150"/>
              <a:t>仅单户评估，忽略园区关联风险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72F3F38-7098-456A-49E9-1B35069221AB}"/>
              </a:ext>
            </a:extLst>
          </p:cNvPr>
          <p:cNvSpPr txBox="1"/>
          <p:nvPr/>
        </p:nvSpPr>
        <p:spPr>
          <a:xfrm>
            <a:off x="3647587" y="5517987"/>
            <a:ext cx="35358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spc="-150"/>
              <a:t>仅贷前一次性碳评价，贷后仅监控环保处罚、舆情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315DAF7-FADB-AD8D-9474-422EE56E79CE}"/>
              </a:ext>
            </a:extLst>
          </p:cNvPr>
          <p:cNvSpPr txBox="1"/>
          <p:nvPr/>
        </p:nvSpPr>
        <p:spPr>
          <a:xfrm>
            <a:off x="8045380" y="3620055"/>
            <a:ext cx="35358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zh-CN" altLang="en-US" b="1">
                <a:effectLst/>
              </a:rPr>
              <a:t>多源数据自动转化为可解释额度、利率、预警信号，直接嵌入工行现有授信审批流程</a:t>
            </a:r>
            <a:r>
              <a:rPr lang="zh-CN" altLang="en-US">
                <a:effectLst/>
              </a:rPr>
              <a:t>	</a:t>
            </a:r>
            <a:endParaRPr lang="zh-CN" altLang="zh-CN">
              <a:effectLst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5E57470C-6F18-DF0B-BC97-F60CC503C36F}"/>
              </a:ext>
            </a:extLst>
          </p:cNvPr>
          <p:cNvSpPr txBox="1"/>
          <p:nvPr/>
        </p:nvSpPr>
        <p:spPr>
          <a:xfrm>
            <a:off x="8045380" y="4707520"/>
            <a:ext cx="37260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zh-CN" altLang="en-US" b="1">
                <a:effectLst/>
              </a:rPr>
              <a:t>测算链式传导风险，适配产业集群批量风控</a:t>
            </a:r>
            <a:r>
              <a:rPr lang="zh-CN" altLang="en-US">
                <a:effectLst/>
              </a:rPr>
              <a:t>	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6525FF34-2969-4D09-BE93-1D8141C433BA}"/>
              </a:ext>
            </a:extLst>
          </p:cNvPr>
          <p:cNvSpPr txBox="1"/>
          <p:nvPr/>
        </p:nvSpPr>
        <p:spPr>
          <a:xfrm>
            <a:off x="8045380" y="5393341"/>
            <a:ext cx="35358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zh-CN" altLang="en-US" b="1">
                <a:effectLst/>
              </a:rPr>
              <a:t>覆盖贷前核验、贷中动态调额调价、贷后资金</a:t>
            </a:r>
            <a:r>
              <a:rPr lang="en-US" altLang="zh-CN" b="1">
                <a:effectLst/>
              </a:rPr>
              <a:t>/</a:t>
            </a:r>
            <a:r>
              <a:rPr lang="zh-CN" altLang="en-US" b="1">
                <a:effectLst/>
              </a:rPr>
              <a:t>能耗多维度异常监测，形成完整风控闭环</a:t>
            </a:r>
            <a:r>
              <a:rPr lang="zh-CN" altLang="en-US">
                <a:effectLst/>
              </a:rPr>
              <a:t>	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7EB7A22-0BE4-75B3-01CB-3B7CCDE304A9}"/>
              </a:ext>
            </a:extLst>
          </p:cNvPr>
          <p:cNvSpPr txBox="1"/>
          <p:nvPr/>
        </p:nvSpPr>
        <p:spPr>
          <a:xfrm>
            <a:off x="8045380" y="3078263"/>
            <a:ext cx="37007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en-US" altLang="zh-CN" b="1">
                <a:effectLst/>
              </a:rPr>
              <a:t>LMDI</a:t>
            </a:r>
            <a:r>
              <a:rPr lang="zh-CN" altLang="en-US" b="1">
                <a:effectLst/>
              </a:rPr>
              <a:t>溯源，区分技改</a:t>
            </a:r>
            <a:r>
              <a:rPr lang="en-US" altLang="zh-CN" b="1">
                <a:effectLst/>
              </a:rPr>
              <a:t>/</a:t>
            </a:r>
            <a:r>
              <a:rPr lang="zh-CN" altLang="en-US" b="1">
                <a:effectLst/>
              </a:rPr>
              <a:t>减产降碳</a:t>
            </a:r>
            <a:endParaRPr lang="zh-CN" altLang="zh-CN" b="1">
              <a:effectLst/>
            </a:endParaRPr>
          </a:p>
        </p:txBody>
      </p:sp>
      <p:sp>
        <p:nvSpPr>
          <p:cNvPr id="50" name="平行四边形 49">
            <a:extLst>
              <a:ext uri="{FF2B5EF4-FFF2-40B4-BE49-F238E27FC236}">
                <a16:creationId xmlns:a16="http://schemas.microsoft.com/office/drawing/2014/main" id="{B92CF911-6A53-D845-533A-B32FA7CB956C}"/>
              </a:ext>
            </a:extLst>
          </p:cNvPr>
          <p:cNvSpPr/>
          <p:nvPr/>
        </p:nvSpPr>
        <p:spPr>
          <a:xfrm>
            <a:off x="7083150" y="495597"/>
            <a:ext cx="2322107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3791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AB19A-1819-2B91-FDC4-AC68916E0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4AFE547-75B7-38BA-AFE2-26F624F80586}"/>
              </a:ext>
            </a:extLst>
          </p:cNvPr>
          <p:cNvSpPr/>
          <p:nvPr/>
        </p:nvSpPr>
        <p:spPr>
          <a:xfrm>
            <a:off x="0" y="0"/>
            <a:ext cx="12192000" cy="925286"/>
          </a:xfrm>
          <a:prstGeom prst="rect">
            <a:avLst/>
          </a:prstGeom>
          <a:gradFill>
            <a:gsLst>
              <a:gs pos="32000">
                <a:srgbClr val="52C2BC">
                  <a:alpha val="50000"/>
                </a:srgbClr>
              </a:gs>
              <a:gs pos="72000">
                <a:srgbClr val="40B8B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773CD040-DD27-C721-9830-283993676B42}"/>
              </a:ext>
            </a:extLst>
          </p:cNvPr>
          <p:cNvSpPr/>
          <p:nvPr/>
        </p:nvSpPr>
        <p:spPr>
          <a:xfrm>
            <a:off x="3937179" y="495597"/>
            <a:ext cx="2322107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BF6662D-721F-4807-6C3D-A63CA252D6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6" y="132202"/>
            <a:ext cx="532967" cy="539826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42A2DA69-64AB-B4C4-7E68-2671562FAB90}"/>
              </a:ext>
            </a:extLst>
          </p:cNvPr>
          <p:cNvSpPr txBox="1"/>
          <p:nvPr/>
        </p:nvSpPr>
        <p:spPr>
          <a:xfrm>
            <a:off x="599503" y="137792"/>
            <a:ext cx="28047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104862"/>
                </a:solidFill>
              </a:rPr>
              <a:t>工银‘’碳跃智衡’’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F854392-D773-95CA-B46D-5752F9FE936F}"/>
              </a:ext>
            </a:extLst>
          </p:cNvPr>
          <p:cNvSpPr/>
          <p:nvPr/>
        </p:nvSpPr>
        <p:spPr>
          <a:xfrm>
            <a:off x="2145349" y="1211854"/>
            <a:ext cx="3547879" cy="580616"/>
          </a:xfrm>
          <a:prstGeom prst="roundRect">
            <a:avLst/>
          </a:prstGeom>
          <a:gradFill>
            <a:gsLst>
              <a:gs pos="32000">
                <a:srgbClr val="52C2BC">
                  <a:alpha val="50000"/>
                </a:srgbClr>
              </a:gs>
              <a:gs pos="72000">
                <a:srgbClr val="40B8B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sz="2000" b="1">
                <a:solidFill>
                  <a:schemeClr val="tx1"/>
                </a:solidFill>
              </a:rPr>
              <a:t>工行业务可行性与技术可行性</a:t>
            </a:r>
            <a:endParaRPr lang="zh-CN" altLang="zh-CN" sz="2000">
              <a:solidFill>
                <a:schemeClr val="tx1"/>
              </a:solidFill>
              <a:effectLst/>
            </a:endParaRPr>
          </a:p>
        </p:txBody>
      </p:sp>
      <p:sp>
        <p:nvSpPr>
          <p:cNvPr id="22" name="矩形: 对角圆角 21">
            <a:extLst>
              <a:ext uri="{FF2B5EF4-FFF2-40B4-BE49-F238E27FC236}">
                <a16:creationId xmlns:a16="http://schemas.microsoft.com/office/drawing/2014/main" id="{B669F9FF-C7E7-FACC-12DA-C47EA61DE502}"/>
              </a:ext>
            </a:extLst>
          </p:cNvPr>
          <p:cNvSpPr/>
          <p:nvPr/>
        </p:nvSpPr>
        <p:spPr>
          <a:xfrm>
            <a:off x="66536" y="1193757"/>
            <a:ext cx="1970314" cy="598713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600" b="1">
                <a:solidFill>
                  <a:schemeClr val="tx1"/>
                </a:solidFill>
              </a:rPr>
              <a:t>可行性分析</a:t>
            </a:r>
          </a:p>
        </p:txBody>
      </p:sp>
      <p:sp>
        <p:nvSpPr>
          <p:cNvPr id="50" name="平行四边形 49">
            <a:extLst>
              <a:ext uri="{FF2B5EF4-FFF2-40B4-BE49-F238E27FC236}">
                <a16:creationId xmlns:a16="http://schemas.microsoft.com/office/drawing/2014/main" id="{2659442D-BFA4-F01A-1BB6-8B3AD7847E36}"/>
              </a:ext>
            </a:extLst>
          </p:cNvPr>
          <p:cNvSpPr/>
          <p:nvPr/>
        </p:nvSpPr>
        <p:spPr>
          <a:xfrm>
            <a:off x="7083150" y="495597"/>
            <a:ext cx="2322107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>
            <a:extLst>
              <a:ext uri="{FF2B5EF4-FFF2-40B4-BE49-F238E27FC236}">
                <a16:creationId xmlns:a16="http://schemas.microsoft.com/office/drawing/2014/main" id="{864ACD30-D9D7-D077-6B61-6C7880E293BC}"/>
              </a:ext>
            </a:extLst>
          </p:cNvPr>
          <p:cNvSpPr/>
          <p:nvPr/>
        </p:nvSpPr>
        <p:spPr>
          <a:xfrm>
            <a:off x="7083150" y="397390"/>
            <a:ext cx="2398574" cy="636420"/>
          </a:xfrm>
          <a:prstGeom prst="parallelogram">
            <a:avLst/>
          </a:prstGeom>
          <a:solidFill>
            <a:srgbClr val="36A09A"/>
          </a:solidFill>
          <a:ln>
            <a:solidFill>
              <a:srgbClr val="36A0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/>
              <a:t>可行性分析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365E225-B849-99F0-CC55-6C34F7CC4DD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1" t="17192" r="49252" b="10228"/>
          <a:stretch>
            <a:fillRect/>
          </a:stretch>
        </p:blipFill>
        <p:spPr>
          <a:xfrm>
            <a:off x="849086" y="1968900"/>
            <a:ext cx="5119239" cy="397469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4843BE1-7E72-8EC2-4F1D-A485713611E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43" t="17192" r="1761" b="10228"/>
          <a:stretch>
            <a:fillRect/>
          </a:stretch>
        </p:blipFill>
        <p:spPr>
          <a:xfrm>
            <a:off x="6336631" y="1968900"/>
            <a:ext cx="5119239" cy="3974699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E9DB0AC-5329-C4CF-E9C2-471B2C78EB9F}"/>
              </a:ext>
            </a:extLst>
          </p:cNvPr>
          <p:cNvSpPr txBox="1"/>
          <p:nvPr/>
        </p:nvSpPr>
        <p:spPr>
          <a:xfrm>
            <a:off x="1217392" y="2648986"/>
            <a:ext cx="41299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业务可行性</a:t>
            </a:r>
            <a:endParaRPr lang="en-US" altLang="zh-CN" sz="2400" b="1">
              <a:solidFill>
                <a:schemeClr val="accent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2400" b="1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——</a:t>
            </a:r>
            <a:r>
              <a:rPr lang="zh-CN" altLang="en-US" sz="2400" b="1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坚实业务底座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34B773D-6C10-2F63-56CE-33EFC927F5C1}"/>
              </a:ext>
            </a:extLst>
          </p:cNvPr>
          <p:cNvSpPr txBox="1"/>
          <p:nvPr/>
        </p:nvSpPr>
        <p:spPr>
          <a:xfrm>
            <a:off x="6683829" y="2648985"/>
            <a:ext cx="39326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>
                <a:solidFill>
                  <a:schemeClr val="accent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技术可行性</a:t>
            </a:r>
            <a:endParaRPr lang="en-US" altLang="zh-CN" sz="2400" b="1">
              <a:solidFill>
                <a:schemeClr val="accent3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2400" b="1">
                <a:solidFill>
                  <a:schemeClr val="accent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——</a:t>
            </a:r>
            <a:r>
              <a:rPr lang="zh-CN" altLang="en-US" sz="2400" b="1">
                <a:solidFill>
                  <a:schemeClr val="accent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成熟科技与数据底座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2F2C188-8FD7-CB7B-3AB2-4EBE54D5B3DF}"/>
              </a:ext>
            </a:extLst>
          </p:cNvPr>
          <p:cNvSpPr txBox="1"/>
          <p:nvPr/>
        </p:nvSpPr>
        <p:spPr>
          <a:xfrm>
            <a:off x="1465339" y="3767129"/>
            <a:ext cx="3912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 </a:t>
            </a:r>
            <a:r>
              <a:rPr lang="zh-CN" altLang="en-US" b="1" spc="-150"/>
              <a:t>客户与产业基础：</a:t>
            </a:r>
            <a:r>
              <a:rPr lang="zh-CN" altLang="en-US" spc="-150"/>
              <a:t>拥有大规模制造业、高碳园区对公客户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A0388B0-4258-6EBB-7D01-88374AC9498B}"/>
              </a:ext>
            </a:extLst>
          </p:cNvPr>
          <p:cNvSpPr txBox="1"/>
          <p:nvPr/>
        </p:nvSpPr>
        <p:spPr>
          <a:xfrm>
            <a:off x="1465339" y="4481548"/>
            <a:ext cx="41299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/>
              <a:t>转型金融产品基础：</a:t>
            </a:r>
            <a:r>
              <a:rPr lang="zh-CN" altLang="en-US"/>
              <a:t>转型贷款、可持续挂钩贷等产品已落地运行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961502C-6372-CE66-3354-270D16414697}"/>
              </a:ext>
            </a:extLst>
          </p:cNvPr>
          <p:cNvSpPr txBox="1"/>
          <p:nvPr/>
        </p:nvSpPr>
        <p:spPr>
          <a:xfrm>
            <a:off x="1465338" y="5151041"/>
            <a:ext cx="41299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/>
              <a:t>综合金融服务基础：</a:t>
            </a:r>
            <a:r>
              <a:rPr lang="en-US" altLang="zh-CN"/>
              <a:t>ESG</a:t>
            </a:r>
            <a:r>
              <a:rPr lang="zh-CN" altLang="en-US"/>
              <a:t>顾问、碳市场、供应链金融可协同配套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1A81D5B-E15F-AD18-2CF9-2D872B499236}"/>
              </a:ext>
            </a:extLst>
          </p:cNvPr>
          <p:cNvSpPr txBox="1"/>
          <p:nvPr/>
        </p:nvSpPr>
        <p:spPr>
          <a:xfrm>
            <a:off x="6849161" y="4481547"/>
            <a:ext cx="3912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数据治理基础：</a:t>
            </a:r>
            <a:r>
              <a:rPr lang="zh-CN" altLang="en-US"/>
              <a:t>已建设可信数据空间，多源企业、能耗、项目数据可对接</a:t>
            </a:r>
            <a:endParaRPr lang="zh-CN" altLang="en-US" spc="-15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1B58986-F534-8BC1-E8AC-FDBCF99FD786}"/>
              </a:ext>
            </a:extLst>
          </p:cNvPr>
          <p:cNvSpPr txBox="1"/>
          <p:nvPr/>
        </p:nvSpPr>
        <p:spPr>
          <a:xfrm>
            <a:off x="6849161" y="5151041"/>
            <a:ext cx="3912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风控与人才基础：</a:t>
            </a:r>
            <a:r>
              <a:rPr lang="zh-CN" altLang="en-US"/>
              <a:t>科技人才储备充足，具备模型开发、风控合规落地能力</a:t>
            </a:r>
            <a:endParaRPr lang="zh-CN" altLang="en-US" spc="-15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BEB1F45-3347-FBCF-8D90-C459D1865644}"/>
              </a:ext>
            </a:extLst>
          </p:cNvPr>
          <p:cNvSpPr txBox="1"/>
          <p:nvPr/>
        </p:nvSpPr>
        <p:spPr>
          <a:xfrm>
            <a:off x="6849161" y="3763446"/>
            <a:ext cx="3912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金融科技底座：</a:t>
            </a:r>
            <a:r>
              <a:rPr lang="en-US" altLang="zh-CN"/>
              <a:t>D‑ICBC</a:t>
            </a:r>
            <a:r>
              <a:rPr lang="zh-CN" altLang="en-US"/>
              <a:t>、领航</a:t>
            </a:r>
            <a:r>
              <a:rPr lang="en-US" altLang="zh-CN"/>
              <a:t>AI+</a:t>
            </a:r>
            <a:r>
              <a:rPr lang="zh-CN" altLang="en-US"/>
              <a:t>平台，具备大数据与</a:t>
            </a:r>
            <a:r>
              <a:rPr lang="en-US" altLang="zh-CN"/>
              <a:t>AI</a:t>
            </a:r>
            <a:r>
              <a:rPr lang="zh-CN" altLang="en-US"/>
              <a:t>算力支撑</a:t>
            </a:r>
            <a:endParaRPr lang="zh-CN" altLang="en-US" spc="-150"/>
          </a:p>
        </p:txBody>
      </p:sp>
    </p:spTree>
    <p:extLst>
      <p:ext uri="{BB962C8B-B14F-4D97-AF65-F5344CB8AC3E}">
        <p14:creationId xmlns:p14="http://schemas.microsoft.com/office/powerpoint/2010/main" val="27175633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7BAE1C5A-695B-E971-8E3F-AD1724CE1F93}"/>
              </a:ext>
            </a:extLst>
          </p:cNvPr>
          <p:cNvSpPr txBox="1"/>
          <p:nvPr/>
        </p:nvSpPr>
        <p:spPr>
          <a:xfrm>
            <a:off x="1357084" y="2469929"/>
            <a:ext cx="979714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/>
              <a:t> </a:t>
            </a:r>
            <a:r>
              <a:rPr lang="zh-CN" altLang="en-US" sz="7200" b="1">
                <a:solidFill>
                  <a:schemeClr val="accent4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效益分析与推广预期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CA3BF41-E4F8-0061-9D3F-48A2831FF245}"/>
              </a:ext>
            </a:extLst>
          </p:cNvPr>
          <p:cNvSpPr txBox="1"/>
          <p:nvPr/>
        </p:nvSpPr>
        <p:spPr>
          <a:xfrm>
            <a:off x="4274454" y="1638932"/>
            <a:ext cx="39624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>
                <a:solidFill>
                  <a:schemeClr val="accent4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PART FOUR</a:t>
            </a:r>
            <a:endParaRPr lang="zh-CN" altLang="en-US" sz="4800" b="1">
              <a:solidFill>
                <a:schemeClr val="accent4">
                  <a:lumMod val="50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1434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0A85E-27D2-90EB-7325-E534F7DB3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6AEAFF8-3E49-0A69-76A7-CD87EE86F438}"/>
              </a:ext>
            </a:extLst>
          </p:cNvPr>
          <p:cNvSpPr/>
          <p:nvPr/>
        </p:nvSpPr>
        <p:spPr>
          <a:xfrm>
            <a:off x="0" y="0"/>
            <a:ext cx="12192000" cy="925286"/>
          </a:xfrm>
          <a:prstGeom prst="rect">
            <a:avLst/>
          </a:prstGeom>
          <a:gradFill>
            <a:gsLst>
              <a:gs pos="32000">
                <a:srgbClr val="52C2BC">
                  <a:alpha val="50000"/>
                </a:srgbClr>
              </a:gs>
              <a:gs pos="72000">
                <a:srgbClr val="40B8B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F7B5132B-504C-4326-E6C4-1570A693C850}"/>
              </a:ext>
            </a:extLst>
          </p:cNvPr>
          <p:cNvSpPr/>
          <p:nvPr/>
        </p:nvSpPr>
        <p:spPr>
          <a:xfrm>
            <a:off x="3937179" y="495597"/>
            <a:ext cx="2322107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3B9CC48E-3015-4246-300E-9A35DCE1BC3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6" y="132202"/>
            <a:ext cx="532967" cy="539826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D2B5D889-5585-61BF-DCD2-EAB3FF52D93A}"/>
              </a:ext>
            </a:extLst>
          </p:cNvPr>
          <p:cNvSpPr txBox="1"/>
          <p:nvPr/>
        </p:nvSpPr>
        <p:spPr>
          <a:xfrm>
            <a:off x="599503" y="137792"/>
            <a:ext cx="28047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104862"/>
                </a:solidFill>
              </a:rPr>
              <a:t>工银‘’碳跃智衡’’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1F6A0250-2AA7-CE0C-371B-29C053E545F5}"/>
              </a:ext>
            </a:extLst>
          </p:cNvPr>
          <p:cNvSpPr/>
          <p:nvPr/>
        </p:nvSpPr>
        <p:spPr>
          <a:xfrm>
            <a:off x="2145348" y="1211854"/>
            <a:ext cx="3177765" cy="580616"/>
          </a:xfrm>
          <a:prstGeom prst="roundRect">
            <a:avLst/>
          </a:prstGeom>
          <a:gradFill>
            <a:gsLst>
              <a:gs pos="32000">
                <a:srgbClr val="52C2BC">
                  <a:alpha val="50000"/>
                </a:srgbClr>
              </a:gs>
              <a:gs pos="72000">
                <a:srgbClr val="40B8B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>
                <a:solidFill>
                  <a:schemeClr val="tx1"/>
                </a:solidFill>
              </a:rPr>
              <a:t>工行综合</a:t>
            </a:r>
            <a:r>
              <a:rPr lang="zh-CN" altLang="en-US" sz="2000" b="1">
                <a:solidFill>
                  <a:schemeClr val="tx1"/>
                </a:solidFill>
                <a:effectLst/>
              </a:rPr>
              <a:t>效益与社会效益</a:t>
            </a:r>
            <a:endParaRPr lang="zh-CN" altLang="zh-CN" sz="2000">
              <a:solidFill>
                <a:schemeClr val="tx1"/>
              </a:solidFill>
              <a:effectLst/>
            </a:endParaRPr>
          </a:p>
        </p:txBody>
      </p:sp>
      <p:sp>
        <p:nvSpPr>
          <p:cNvPr id="22" name="矩形: 对角圆角 21">
            <a:extLst>
              <a:ext uri="{FF2B5EF4-FFF2-40B4-BE49-F238E27FC236}">
                <a16:creationId xmlns:a16="http://schemas.microsoft.com/office/drawing/2014/main" id="{1E8157FF-108B-EAF5-4365-7069458B8C08}"/>
              </a:ext>
            </a:extLst>
          </p:cNvPr>
          <p:cNvSpPr/>
          <p:nvPr/>
        </p:nvSpPr>
        <p:spPr>
          <a:xfrm>
            <a:off x="66536" y="1193757"/>
            <a:ext cx="1970314" cy="598713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600" b="1">
                <a:solidFill>
                  <a:schemeClr val="tx1"/>
                </a:solidFill>
              </a:rPr>
              <a:t>效益分析</a:t>
            </a:r>
          </a:p>
        </p:txBody>
      </p:sp>
      <p:sp>
        <p:nvSpPr>
          <p:cNvPr id="50" name="平行四边形 49">
            <a:extLst>
              <a:ext uri="{FF2B5EF4-FFF2-40B4-BE49-F238E27FC236}">
                <a16:creationId xmlns:a16="http://schemas.microsoft.com/office/drawing/2014/main" id="{DA255F12-DD8E-3844-C1A3-492E616E6B9A}"/>
              </a:ext>
            </a:extLst>
          </p:cNvPr>
          <p:cNvSpPr/>
          <p:nvPr/>
        </p:nvSpPr>
        <p:spPr>
          <a:xfrm>
            <a:off x="7083150" y="495597"/>
            <a:ext cx="2322107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>
            <a:extLst>
              <a:ext uri="{FF2B5EF4-FFF2-40B4-BE49-F238E27FC236}">
                <a16:creationId xmlns:a16="http://schemas.microsoft.com/office/drawing/2014/main" id="{506740DE-5B3A-5687-FDEE-387722D0BC25}"/>
              </a:ext>
            </a:extLst>
          </p:cNvPr>
          <p:cNvSpPr/>
          <p:nvPr/>
        </p:nvSpPr>
        <p:spPr>
          <a:xfrm>
            <a:off x="3919288" y="399003"/>
            <a:ext cx="2398574" cy="636420"/>
          </a:xfrm>
          <a:prstGeom prst="parallelogram">
            <a:avLst/>
          </a:prstGeom>
          <a:solidFill>
            <a:srgbClr val="36A09A"/>
          </a:solidFill>
          <a:ln>
            <a:solidFill>
              <a:srgbClr val="36A0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/>
              <a:t>效益分析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C669993-0884-ECB1-6690-382FE8D269F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870857" y="1390233"/>
            <a:ext cx="9977978" cy="5134865"/>
            <a:chOff x="2108925" y="1012196"/>
            <a:chExt cx="7564268" cy="5353892"/>
          </a:xfrm>
        </p:grpSpPr>
        <p:grpSp>
          <p:nvGrpSpPr>
            <p:cNvPr id="6" name="组合 0">
              <a:extLst>
                <a:ext uri="{FF2B5EF4-FFF2-40B4-BE49-F238E27FC236}">
                  <a16:creationId xmlns:a16="http://schemas.microsoft.com/office/drawing/2014/main" id="{A4ABCF39-6F4A-143A-C1C8-5245361748FB}"/>
                </a:ext>
              </a:extLst>
            </p:cNvPr>
            <p:cNvGrpSpPr/>
            <p:nvPr/>
          </p:nvGrpSpPr>
          <p:grpSpPr>
            <a:xfrm>
              <a:off x="2108925" y="1712686"/>
              <a:ext cx="2668815" cy="3846286"/>
              <a:chOff x="5374640" y="1712686"/>
              <a:chExt cx="2668815" cy="3846286"/>
            </a:xfrm>
          </p:grpSpPr>
          <p:sp>
            <p:nvSpPr>
              <p:cNvPr id="30" name="0">
                <a:extLst>
                  <a:ext uri="{FF2B5EF4-FFF2-40B4-BE49-F238E27FC236}">
                    <a16:creationId xmlns:a16="http://schemas.microsoft.com/office/drawing/2014/main" id="{5A8E5E0B-C8AE-3508-2ADA-D3D66B778FA7}"/>
                  </a:ext>
                </a:extLst>
              </p:cNvPr>
              <p:cNvSpPr/>
              <p:nvPr/>
            </p:nvSpPr>
            <p:spPr>
              <a:xfrm>
                <a:off x="5374640" y="2900279"/>
                <a:ext cx="1442720" cy="1442720"/>
              </a:xfrm>
              <a:prstGeom prst="ellipse">
                <a:avLst/>
              </a:prstGeom>
              <a:solidFill>
                <a:schemeClr val="accent1">
                  <a:alpha val="14000"/>
                </a:schemeClr>
              </a:solidFill>
              <a:ln w="63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0">
                <a:extLst>
                  <a:ext uri="{FF2B5EF4-FFF2-40B4-BE49-F238E27FC236}">
                    <a16:creationId xmlns:a16="http://schemas.microsoft.com/office/drawing/2014/main" id="{58A80EBF-24A9-4443-10D4-5E29E63850A4}"/>
                  </a:ext>
                </a:extLst>
              </p:cNvPr>
              <p:cNvSpPr/>
              <p:nvPr/>
            </p:nvSpPr>
            <p:spPr>
              <a:xfrm>
                <a:off x="5542908" y="3068547"/>
                <a:ext cx="1106184" cy="1106184"/>
              </a:xfrm>
              <a:prstGeom prst="ellipse">
                <a:avLst/>
              </a:prstGeom>
              <a:solidFill>
                <a:schemeClr val="accent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2" name="0">
                <a:extLst>
                  <a:ext uri="{FF2B5EF4-FFF2-40B4-BE49-F238E27FC236}">
                    <a16:creationId xmlns:a16="http://schemas.microsoft.com/office/drawing/2014/main" id="{66DD89E7-6CC1-EA70-311F-39CCC8A24A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05714" y="3634023"/>
                <a:ext cx="2237741" cy="0"/>
              </a:xfrm>
              <a:prstGeom prst="line">
                <a:avLst/>
              </a:prstGeom>
              <a:ln w="127000">
                <a:gradFill>
                  <a:gsLst>
                    <a:gs pos="100000">
                      <a:schemeClr val="accent1">
                        <a:alpha val="10000"/>
                      </a:schemeClr>
                    </a:gs>
                    <a:gs pos="60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0">
                <a:extLst>
                  <a:ext uri="{FF2B5EF4-FFF2-40B4-BE49-F238E27FC236}">
                    <a16:creationId xmlns:a16="http://schemas.microsoft.com/office/drawing/2014/main" id="{FB590ECA-A6AC-ECC1-E1B2-643E35CFE85D}"/>
                  </a:ext>
                </a:extLst>
              </p:cNvPr>
              <p:cNvSpPr/>
              <p:nvPr/>
            </p:nvSpPr>
            <p:spPr>
              <a:xfrm flipH="1">
                <a:off x="6889198" y="1712686"/>
                <a:ext cx="1058238" cy="3846286"/>
              </a:xfrm>
              <a:prstGeom prst="rightBrace">
                <a:avLst>
                  <a:gd name="adj1" fmla="val 63333"/>
                  <a:gd name="adj2" fmla="val 50000"/>
                </a:avLst>
              </a:prstGeom>
              <a:ln w="127000">
                <a:gradFill>
                  <a:gsLst>
                    <a:gs pos="0">
                      <a:schemeClr val="accent1">
                        <a:alpha val="10000"/>
                      </a:schemeClr>
                    </a:gs>
                    <a:gs pos="65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Title-0">
                <a:extLst>
                  <a:ext uri="{FF2B5EF4-FFF2-40B4-BE49-F238E27FC236}">
                    <a16:creationId xmlns:a16="http://schemas.microsoft.com/office/drawing/2014/main" id="{BD19D8E2-6C70-4B89-83D1-2B4EF7EBB77B}"/>
                  </a:ext>
                </a:extLst>
              </p:cNvPr>
              <p:cNvSpPr>
                <a:spLocks/>
              </p:cNvSpPr>
              <p:nvPr>
                <p:custDataLst>
                  <p:tags r:id="rId8"/>
                </p:custDataLst>
              </p:nvPr>
            </p:nvSpPr>
            <p:spPr>
              <a:xfrm>
                <a:off x="5554894" y="3371748"/>
                <a:ext cx="1082212" cy="499782"/>
              </a:xfrm>
              <a:prstGeom prst="roundRect">
                <a:avLst>
                  <a:gd name="adj" fmla="val 14133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b="1"/>
                  <a:t>多维综合效益</a:t>
                </a:r>
                <a:endParaRPr lang="en-US" altLang="zh-CN" b="1" dirty="0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7" name="组合 1">
              <a:extLst>
                <a:ext uri="{FF2B5EF4-FFF2-40B4-BE49-F238E27FC236}">
                  <a16:creationId xmlns:a16="http://schemas.microsoft.com/office/drawing/2014/main" id="{C4CEF81F-A044-0203-3632-029BBB645B70}"/>
                </a:ext>
              </a:extLst>
            </p:cNvPr>
            <p:cNvGrpSpPr/>
            <p:nvPr/>
          </p:nvGrpSpPr>
          <p:grpSpPr>
            <a:xfrm>
              <a:off x="4528541" y="1012196"/>
              <a:ext cx="5144652" cy="1578883"/>
              <a:chOff x="4528541" y="1012196"/>
              <a:chExt cx="5144652" cy="1578883"/>
            </a:xfrm>
          </p:grpSpPr>
          <p:sp>
            <p:nvSpPr>
              <p:cNvPr id="26" name="1">
                <a:extLst>
                  <a:ext uri="{FF2B5EF4-FFF2-40B4-BE49-F238E27FC236}">
                    <a16:creationId xmlns:a16="http://schemas.microsoft.com/office/drawing/2014/main" id="{7BD60741-5351-3B2D-0FE9-2BA8B6E427C5}"/>
                  </a:ext>
                </a:extLst>
              </p:cNvPr>
              <p:cNvSpPr/>
              <p:nvPr/>
            </p:nvSpPr>
            <p:spPr>
              <a:xfrm flipH="1">
                <a:off x="5564205" y="1012196"/>
                <a:ext cx="4049691" cy="1578883"/>
              </a:xfrm>
              <a:prstGeom prst="roundRect">
                <a:avLst>
                  <a:gd name="adj" fmla="val 6863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schemeClr val="accent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1">
                <a:extLst>
                  <a:ext uri="{FF2B5EF4-FFF2-40B4-BE49-F238E27FC236}">
                    <a16:creationId xmlns:a16="http://schemas.microsoft.com/office/drawing/2014/main" id="{65B52F07-D430-E6F8-18F0-EC8CC8DE042E}"/>
                  </a:ext>
                </a:extLst>
              </p:cNvPr>
              <p:cNvSpPr/>
              <p:nvPr/>
            </p:nvSpPr>
            <p:spPr>
              <a:xfrm flipH="1">
                <a:off x="4603525" y="1518039"/>
                <a:ext cx="1291771" cy="464457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/>
                  <a:t>经济效益</a:t>
                </a:r>
              </a:p>
            </p:txBody>
          </p:sp>
          <p:sp>
            <p:nvSpPr>
              <p:cNvPr id="28" name="Title-1">
                <a:extLst>
                  <a:ext uri="{FF2B5EF4-FFF2-40B4-BE49-F238E27FC236}">
                    <a16:creationId xmlns:a16="http://schemas.microsoft.com/office/drawing/2014/main" id="{4626189C-C442-5AA9-556E-C51BA98A8684}"/>
                  </a:ext>
                </a:extLst>
              </p:cNvPr>
              <p:cNvSpPr>
                <a:spLocks/>
              </p:cNvSpPr>
              <p:nvPr>
                <p:custDataLst>
                  <p:tags r:id="rId6"/>
                </p:custDataLst>
              </p:nvPr>
            </p:nvSpPr>
            <p:spPr>
              <a:xfrm flipH="1">
                <a:off x="4528541" y="1500376"/>
                <a:ext cx="1441740" cy="499782"/>
              </a:xfrm>
              <a:prstGeom prst="roundRect">
                <a:avLst>
                  <a:gd name="adj" fmla="val 14133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b="1" dirty="0">
                  <a:solidFill>
                    <a:schemeClr val="lt1"/>
                  </a:solidFill>
                </a:endParaRPr>
              </a:p>
            </p:txBody>
          </p:sp>
          <p:sp>
            <p:nvSpPr>
              <p:cNvPr id="29" name="Body-1">
                <a:extLst>
                  <a:ext uri="{FF2B5EF4-FFF2-40B4-BE49-F238E27FC236}">
                    <a16:creationId xmlns:a16="http://schemas.microsoft.com/office/drawing/2014/main" id="{16BDBD8D-5033-9D27-85C8-35283724B7D5}"/>
                  </a:ext>
                </a:extLst>
              </p:cNvPr>
              <p:cNvSpPr txBox="1">
                <a:spLocks/>
              </p:cNvSpPr>
              <p:nvPr>
                <p:custDataLst>
                  <p:tags r:id="rId7"/>
                </p:custDataLst>
              </p:nvPr>
            </p:nvSpPr>
            <p:spPr>
              <a:xfrm flipH="1">
                <a:off x="5862157" y="1177921"/>
                <a:ext cx="3811036" cy="1047821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1600" b="1">
                    <a:solidFill>
                      <a:srgbClr val="000000"/>
                    </a:solidFill>
                    <a:latin typeface="+mn-ea"/>
                    <a:sym typeface="Arial" panose="020B0604020202020204" pitchFamily="34" charset="0"/>
                  </a:rPr>
                  <a:t>① 扩大高碳转型企业客户覆盖范围；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b="1">
                    <a:solidFill>
                      <a:srgbClr val="000000"/>
                    </a:solidFill>
                    <a:latin typeface="+mn-ea"/>
                    <a:sym typeface="Arial" panose="020B0604020202020204" pitchFamily="34" charset="0"/>
                  </a:rPr>
                  <a:t>② 联动转型项目贷款、设备更新融资、结算、供应链、租赁、</a:t>
                </a:r>
                <a:r>
                  <a:rPr lang="en-US" altLang="zh-CN" sz="1600" b="1">
                    <a:solidFill>
                      <a:srgbClr val="000000"/>
                    </a:solidFill>
                    <a:latin typeface="+mn-ea"/>
                    <a:sym typeface="Arial" panose="020B0604020202020204" pitchFamily="34" charset="0"/>
                  </a:rPr>
                  <a:t>ESG</a:t>
                </a:r>
                <a:r>
                  <a:rPr lang="zh-CN" altLang="en-US" sz="1600" b="1">
                    <a:solidFill>
                      <a:srgbClr val="000000"/>
                    </a:solidFill>
                    <a:latin typeface="+mn-ea"/>
                    <a:sym typeface="Arial" panose="020B0604020202020204" pitchFamily="34" charset="0"/>
                  </a:rPr>
                  <a:t>顾问，带动一揽子综合金融业务增量。</a:t>
                </a:r>
                <a:endParaRPr lang="en-US" altLang="zh-CN" sz="1600" b="1" dirty="0">
                  <a:solidFill>
                    <a:srgbClr val="000000"/>
                  </a:solidFill>
                  <a:latin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8" name="组合 2">
              <a:extLst>
                <a:ext uri="{FF2B5EF4-FFF2-40B4-BE49-F238E27FC236}">
                  <a16:creationId xmlns:a16="http://schemas.microsoft.com/office/drawing/2014/main" id="{2EE922E4-4221-DEB4-1542-7682D3489C88}"/>
                </a:ext>
              </a:extLst>
            </p:cNvPr>
            <p:cNvGrpSpPr/>
            <p:nvPr/>
          </p:nvGrpSpPr>
          <p:grpSpPr>
            <a:xfrm>
              <a:off x="4528541" y="2787580"/>
              <a:ext cx="5085358" cy="1870563"/>
              <a:chOff x="4528541" y="2787580"/>
              <a:chExt cx="5085358" cy="1870563"/>
            </a:xfrm>
          </p:grpSpPr>
          <p:sp>
            <p:nvSpPr>
              <p:cNvPr id="20" name="2">
                <a:extLst>
                  <a:ext uri="{FF2B5EF4-FFF2-40B4-BE49-F238E27FC236}">
                    <a16:creationId xmlns:a16="http://schemas.microsoft.com/office/drawing/2014/main" id="{BDA7D7B7-CF0F-E0E6-F7FB-DBAD06DEDF1F}"/>
                  </a:ext>
                </a:extLst>
              </p:cNvPr>
              <p:cNvSpPr/>
              <p:nvPr/>
            </p:nvSpPr>
            <p:spPr>
              <a:xfrm flipH="1">
                <a:off x="5564208" y="2787580"/>
                <a:ext cx="4049691" cy="1870563"/>
              </a:xfrm>
              <a:prstGeom prst="roundRect">
                <a:avLst>
                  <a:gd name="adj" fmla="val 6863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schemeClr val="accent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2">
                <a:extLst>
                  <a:ext uri="{FF2B5EF4-FFF2-40B4-BE49-F238E27FC236}">
                    <a16:creationId xmlns:a16="http://schemas.microsoft.com/office/drawing/2014/main" id="{883FB028-8373-F5E4-B645-E6C952D8B7BA}"/>
                  </a:ext>
                </a:extLst>
              </p:cNvPr>
              <p:cNvSpPr/>
              <p:nvPr/>
            </p:nvSpPr>
            <p:spPr>
              <a:xfrm flipH="1">
                <a:off x="4603525" y="3422315"/>
                <a:ext cx="1291771" cy="464457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Title-2">
                <a:extLst>
                  <a:ext uri="{FF2B5EF4-FFF2-40B4-BE49-F238E27FC236}">
                    <a16:creationId xmlns:a16="http://schemas.microsoft.com/office/drawing/2014/main" id="{6832A49E-EB8F-D1B6-2D04-54EFB9844F4F}"/>
                  </a:ext>
                </a:extLst>
              </p:cNvPr>
              <p:cNvSpPr>
                <a:spLocks/>
              </p:cNvSpPr>
              <p:nvPr>
                <p:custDataLst>
                  <p:tags r:id="rId4"/>
                </p:custDataLst>
              </p:nvPr>
            </p:nvSpPr>
            <p:spPr>
              <a:xfrm flipH="1">
                <a:off x="4528541" y="3404652"/>
                <a:ext cx="1441740" cy="499782"/>
              </a:xfrm>
              <a:prstGeom prst="roundRect">
                <a:avLst>
                  <a:gd name="adj" fmla="val 14133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b="1"/>
                  <a:t>风险与运营效益</a:t>
                </a:r>
                <a:endParaRPr lang="zh-CN" altLang="en-US" b="1" dirty="0">
                  <a:solidFill>
                    <a:schemeClr val="lt1"/>
                  </a:solidFill>
                </a:endParaRPr>
              </a:p>
            </p:txBody>
          </p:sp>
          <p:sp>
            <p:nvSpPr>
              <p:cNvPr id="25" name="Body-2">
                <a:extLst>
                  <a:ext uri="{FF2B5EF4-FFF2-40B4-BE49-F238E27FC236}">
                    <a16:creationId xmlns:a16="http://schemas.microsoft.com/office/drawing/2014/main" id="{24389225-D1D5-7C21-C878-EE6C14E44048}"/>
                  </a:ext>
                </a:extLst>
              </p:cNvPr>
              <p:cNvSpPr txBox="1">
                <a:spLocks/>
              </p:cNvSpPr>
              <p:nvPr>
                <p:custDataLst>
                  <p:tags r:id="rId5"/>
                </p:custDataLst>
              </p:nvPr>
            </p:nvSpPr>
            <p:spPr>
              <a:xfrm flipH="1">
                <a:off x="5862156" y="2913535"/>
                <a:ext cx="3650141" cy="1600643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endParaRPr lang="en-US" altLang="zh-CN" sz="1400" dirty="0">
                  <a:solidFill>
                    <a:srgbClr val="000000"/>
                  </a:solidFill>
                  <a:latin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2" name="组合 3">
              <a:extLst>
                <a:ext uri="{FF2B5EF4-FFF2-40B4-BE49-F238E27FC236}">
                  <a16:creationId xmlns:a16="http://schemas.microsoft.com/office/drawing/2014/main" id="{7AB8250B-DF15-DFA6-90EF-9310900A6FF3}"/>
                </a:ext>
              </a:extLst>
            </p:cNvPr>
            <p:cNvGrpSpPr/>
            <p:nvPr/>
          </p:nvGrpSpPr>
          <p:grpSpPr>
            <a:xfrm>
              <a:off x="4528541" y="4825745"/>
              <a:ext cx="5085358" cy="1540343"/>
              <a:chOff x="4528541" y="4825745"/>
              <a:chExt cx="5085358" cy="1540343"/>
            </a:xfrm>
          </p:grpSpPr>
          <p:sp>
            <p:nvSpPr>
              <p:cNvPr id="13" name="3">
                <a:extLst>
                  <a:ext uri="{FF2B5EF4-FFF2-40B4-BE49-F238E27FC236}">
                    <a16:creationId xmlns:a16="http://schemas.microsoft.com/office/drawing/2014/main" id="{E4C516C5-672E-34A9-785E-1ADA26AA1BD1}"/>
                  </a:ext>
                </a:extLst>
              </p:cNvPr>
              <p:cNvSpPr/>
              <p:nvPr/>
            </p:nvSpPr>
            <p:spPr>
              <a:xfrm flipH="1">
                <a:off x="5564208" y="4825745"/>
                <a:ext cx="4049691" cy="1540343"/>
              </a:xfrm>
              <a:prstGeom prst="roundRect">
                <a:avLst>
                  <a:gd name="adj" fmla="val 6863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schemeClr val="accent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3">
                <a:extLst>
                  <a:ext uri="{FF2B5EF4-FFF2-40B4-BE49-F238E27FC236}">
                    <a16:creationId xmlns:a16="http://schemas.microsoft.com/office/drawing/2014/main" id="{5B908552-52F2-3DA5-A353-9E87A84EC47D}"/>
                  </a:ext>
                </a:extLst>
              </p:cNvPr>
              <p:cNvSpPr/>
              <p:nvPr/>
            </p:nvSpPr>
            <p:spPr>
              <a:xfrm flipH="1">
                <a:off x="4603525" y="5326590"/>
                <a:ext cx="1291771" cy="464457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Title-3">
                <a:extLst>
                  <a:ext uri="{FF2B5EF4-FFF2-40B4-BE49-F238E27FC236}">
                    <a16:creationId xmlns:a16="http://schemas.microsoft.com/office/drawing/2014/main" id="{CF93193F-B27D-B841-6441-043066C83A50}"/>
                  </a:ext>
                </a:extLst>
              </p:cNvPr>
              <p:cNvSpPr>
                <a:spLocks/>
              </p:cNvSpPr>
              <p:nvPr>
                <p:custDataLst>
                  <p:tags r:id="rId2"/>
                </p:custDataLst>
              </p:nvPr>
            </p:nvSpPr>
            <p:spPr>
              <a:xfrm flipH="1">
                <a:off x="4528541" y="5308927"/>
                <a:ext cx="1441740" cy="499782"/>
              </a:xfrm>
              <a:prstGeom prst="roundRect">
                <a:avLst>
                  <a:gd name="adj" fmla="val 14133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b="1"/>
                  <a:t>社会效益</a:t>
                </a:r>
                <a:endParaRPr lang="zh-CN" altLang="en-US" b="1" dirty="0">
                  <a:solidFill>
                    <a:schemeClr val="lt1"/>
                  </a:solidFill>
                </a:endParaRPr>
              </a:p>
            </p:txBody>
          </p:sp>
          <p:sp>
            <p:nvSpPr>
              <p:cNvPr id="19" name="Body-3">
                <a:extLst>
                  <a:ext uri="{FF2B5EF4-FFF2-40B4-BE49-F238E27FC236}">
                    <a16:creationId xmlns:a16="http://schemas.microsoft.com/office/drawing/2014/main" id="{9C67A98D-ED8F-EBB5-4606-4069AB600400}"/>
                  </a:ext>
                </a:extLst>
              </p:cNvPr>
              <p:cNvSpPr txBox="1">
                <a:spLocks/>
              </p:cNvSpPr>
              <p:nvPr>
                <p:custDataLst>
                  <p:tags r:id="rId3"/>
                </p:custDataLst>
              </p:nvPr>
            </p:nvSpPr>
            <p:spPr>
              <a:xfrm flipH="1">
                <a:off x="5862158" y="5034908"/>
                <a:ext cx="3650141" cy="1047821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endParaRPr lang="en-US" altLang="zh-CN" sz="1400" dirty="0">
                  <a:solidFill>
                    <a:srgbClr val="000000"/>
                  </a:solidFill>
                  <a:latin typeface="+mn-ea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36" name="文本框 35">
            <a:extLst>
              <a:ext uri="{FF2B5EF4-FFF2-40B4-BE49-F238E27FC236}">
                <a16:creationId xmlns:a16="http://schemas.microsoft.com/office/drawing/2014/main" id="{64C3470F-9908-EE17-F818-479768F58BE3}"/>
              </a:ext>
            </a:extLst>
          </p:cNvPr>
          <p:cNvSpPr txBox="1"/>
          <p:nvPr/>
        </p:nvSpPr>
        <p:spPr>
          <a:xfrm>
            <a:off x="5821720" y="3246403"/>
            <a:ext cx="43407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/>
              <a:t>① 识别漂绿与虚假转型行为，避免信贷投放错配；</a:t>
            </a:r>
          </a:p>
          <a:p>
            <a:r>
              <a:rPr lang="zh-CN" altLang="en-US" sz="1600" b="1"/>
              <a:t>② 识别园区产业风险传染，防范集群式信贷不良；</a:t>
            </a:r>
          </a:p>
          <a:p>
            <a:r>
              <a:rPr lang="zh-CN" altLang="en-US" sz="1600" b="1"/>
              <a:t>③ 转型评估流程标准化，降低客户经理人工研判成本和多园区批量服务的边际成本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C15FF96-C1EE-73DC-CC38-973701E940CF}"/>
              </a:ext>
            </a:extLst>
          </p:cNvPr>
          <p:cNvSpPr txBox="1"/>
          <p:nvPr/>
        </p:nvSpPr>
        <p:spPr>
          <a:xfrm>
            <a:off x="5865435" y="5254094"/>
            <a:ext cx="478358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/>
              <a:t>① 甄别伪装降碳，倒逼企业落地真实节能技改，推动高碳产业实质转型；</a:t>
            </a:r>
          </a:p>
          <a:p>
            <a:r>
              <a:rPr lang="zh-CN" altLang="en-US" sz="1600" b="1"/>
              <a:t>② 可为地方园区双碳治理提供参考支撑；</a:t>
            </a:r>
          </a:p>
          <a:p>
            <a:r>
              <a:rPr lang="zh-CN" altLang="en-US" sz="1600" b="1"/>
              <a:t>③ 落实国家转型金融政策，体现国有大行示范作用。</a:t>
            </a:r>
          </a:p>
        </p:txBody>
      </p:sp>
    </p:spTree>
    <p:extLst>
      <p:ext uri="{BB962C8B-B14F-4D97-AF65-F5344CB8AC3E}">
        <p14:creationId xmlns:p14="http://schemas.microsoft.com/office/powerpoint/2010/main" val="27747612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CDAAA-A554-245F-9AA0-54EDFB9DA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51716ED-986C-86E8-94B7-24001153B7BD}"/>
              </a:ext>
            </a:extLst>
          </p:cNvPr>
          <p:cNvSpPr/>
          <p:nvPr/>
        </p:nvSpPr>
        <p:spPr>
          <a:xfrm>
            <a:off x="0" y="0"/>
            <a:ext cx="12192000" cy="925286"/>
          </a:xfrm>
          <a:prstGeom prst="rect">
            <a:avLst/>
          </a:prstGeom>
          <a:gradFill>
            <a:gsLst>
              <a:gs pos="32000">
                <a:srgbClr val="52C2BC">
                  <a:alpha val="50000"/>
                </a:srgbClr>
              </a:gs>
              <a:gs pos="72000">
                <a:srgbClr val="40B8B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7B3D20C2-3FE3-8A59-530A-133B68FF6691}"/>
              </a:ext>
            </a:extLst>
          </p:cNvPr>
          <p:cNvSpPr/>
          <p:nvPr/>
        </p:nvSpPr>
        <p:spPr>
          <a:xfrm>
            <a:off x="3937179" y="495597"/>
            <a:ext cx="2322107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147DDDDF-A63E-6269-62BE-BCBBE54555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6" y="132202"/>
            <a:ext cx="532967" cy="539826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12ED006C-6DD1-E7C4-5932-CDDB02790BFA}"/>
              </a:ext>
            </a:extLst>
          </p:cNvPr>
          <p:cNvSpPr txBox="1"/>
          <p:nvPr/>
        </p:nvSpPr>
        <p:spPr>
          <a:xfrm>
            <a:off x="599503" y="137792"/>
            <a:ext cx="28047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104862"/>
                </a:solidFill>
              </a:rPr>
              <a:t>工银‘’碳跃智衡’’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1382E94C-5C3F-CF25-60FB-083EDD166BF5}"/>
              </a:ext>
            </a:extLst>
          </p:cNvPr>
          <p:cNvSpPr/>
          <p:nvPr/>
        </p:nvSpPr>
        <p:spPr>
          <a:xfrm>
            <a:off x="2145348" y="1211854"/>
            <a:ext cx="7096623" cy="580616"/>
          </a:xfrm>
          <a:prstGeom prst="roundRect">
            <a:avLst/>
          </a:prstGeom>
          <a:gradFill>
            <a:gsLst>
              <a:gs pos="32000">
                <a:srgbClr val="52C2BC">
                  <a:alpha val="50000"/>
                </a:srgbClr>
              </a:gs>
              <a:gs pos="72000">
                <a:srgbClr val="40B8B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>
                <a:solidFill>
                  <a:schemeClr val="tx1"/>
                </a:solidFill>
              </a:rPr>
              <a:t>采取</a:t>
            </a:r>
            <a:r>
              <a:rPr lang="en-US" altLang="zh-CN" b="1">
                <a:solidFill>
                  <a:schemeClr val="tx1"/>
                </a:solidFill>
              </a:rPr>
              <a:t>“</a:t>
            </a:r>
            <a:r>
              <a:rPr lang="zh-CN" altLang="zh-CN" b="1">
                <a:solidFill>
                  <a:schemeClr val="tx1"/>
                </a:solidFill>
              </a:rPr>
              <a:t>单行业打样</a:t>
            </a:r>
            <a:r>
              <a:rPr lang="en-US" altLang="zh-CN" b="1">
                <a:solidFill>
                  <a:schemeClr val="tx1"/>
                </a:solidFill>
              </a:rPr>
              <a:t>—</a:t>
            </a:r>
            <a:r>
              <a:rPr lang="zh-CN" altLang="zh-CN" b="1">
                <a:solidFill>
                  <a:schemeClr val="tx1"/>
                </a:solidFill>
              </a:rPr>
              <a:t>园区闭环验证</a:t>
            </a:r>
            <a:r>
              <a:rPr lang="en-US" altLang="zh-CN" b="1">
                <a:solidFill>
                  <a:schemeClr val="tx1"/>
                </a:solidFill>
              </a:rPr>
              <a:t>—</a:t>
            </a:r>
            <a:r>
              <a:rPr lang="zh-CN" altLang="zh-CN" b="1">
                <a:solidFill>
                  <a:schemeClr val="tx1"/>
                </a:solidFill>
              </a:rPr>
              <a:t>区域复制</a:t>
            </a:r>
            <a:r>
              <a:rPr lang="en-US" altLang="zh-CN" b="1">
                <a:solidFill>
                  <a:schemeClr val="tx1"/>
                </a:solidFill>
              </a:rPr>
              <a:t>—</a:t>
            </a:r>
            <a:r>
              <a:rPr lang="zh-CN" altLang="zh-CN" b="1">
                <a:solidFill>
                  <a:schemeClr val="tx1"/>
                </a:solidFill>
              </a:rPr>
              <a:t>行业模板扩展</a:t>
            </a:r>
            <a:r>
              <a:rPr lang="en-US" altLang="zh-CN" b="1">
                <a:solidFill>
                  <a:schemeClr val="tx1"/>
                </a:solidFill>
              </a:rPr>
              <a:t>”</a:t>
            </a:r>
            <a:r>
              <a:rPr lang="zh-CN" altLang="zh-CN" b="1">
                <a:solidFill>
                  <a:schemeClr val="tx1"/>
                </a:solidFill>
              </a:rPr>
              <a:t>的</a:t>
            </a:r>
            <a:r>
              <a:rPr lang="zh-CN" altLang="en-US" b="1">
                <a:solidFill>
                  <a:schemeClr val="tx1"/>
                </a:solidFill>
              </a:rPr>
              <a:t>路径</a:t>
            </a:r>
            <a:endParaRPr lang="zh-CN" altLang="zh-CN" sz="2000" b="1">
              <a:solidFill>
                <a:schemeClr val="tx1"/>
              </a:solidFill>
              <a:effectLst/>
            </a:endParaRPr>
          </a:p>
        </p:txBody>
      </p:sp>
      <p:sp>
        <p:nvSpPr>
          <p:cNvPr id="22" name="矩形: 对角圆角 21">
            <a:extLst>
              <a:ext uri="{FF2B5EF4-FFF2-40B4-BE49-F238E27FC236}">
                <a16:creationId xmlns:a16="http://schemas.microsoft.com/office/drawing/2014/main" id="{B05FD890-65C7-1D82-36CC-18A71A32D1B0}"/>
              </a:ext>
            </a:extLst>
          </p:cNvPr>
          <p:cNvSpPr/>
          <p:nvPr/>
        </p:nvSpPr>
        <p:spPr>
          <a:xfrm>
            <a:off x="66536" y="1193757"/>
            <a:ext cx="1970314" cy="598713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600" b="1">
                <a:solidFill>
                  <a:schemeClr val="tx1"/>
                </a:solidFill>
              </a:rPr>
              <a:t>推广预期</a:t>
            </a:r>
          </a:p>
        </p:txBody>
      </p:sp>
      <p:sp>
        <p:nvSpPr>
          <p:cNvPr id="50" name="平行四边形 49">
            <a:extLst>
              <a:ext uri="{FF2B5EF4-FFF2-40B4-BE49-F238E27FC236}">
                <a16:creationId xmlns:a16="http://schemas.microsoft.com/office/drawing/2014/main" id="{3BB19821-98AB-FABF-9563-6390FEAADFEB}"/>
              </a:ext>
            </a:extLst>
          </p:cNvPr>
          <p:cNvSpPr/>
          <p:nvPr/>
        </p:nvSpPr>
        <p:spPr>
          <a:xfrm>
            <a:off x="7083150" y="495597"/>
            <a:ext cx="2322107" cy="539826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>
            <a:extLst>
              <a:ext uri="{FF2B5EF4-FFF2-40B4-BE49-F238E27FC236}">
                <a16:creationId xmlns:a16="http://schemas.microsoft.com/office/drawing/2014/main" id="{4C259AC4-BD34-6E5A-BD6C-9D8790984304}"/>
              </a:ext>
            </a:extLst>
          </p:cNvPr>
          <p:cNvSpPr/>
          <p:nvPr/>
        </p:nvSpPr>
        <p:spPr>
          <a:xfrm>
            <a:off x="7083150" y="397390"/>
            <a:ext cx="2398574" cy="636420"/>
          </a:xfrm>
          <a:prstGeom prst="parallelogram">
            <a:avLst/>
          </a:prstGeom>
          <a:solidFill>
            <a:srgbClr val="36A09A"/>
          </a:solidFill>
          <a:ln>
            <a:solidFill>
              <a:srgbClr val="36A0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/>
              <a:t>推广预期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A739B52-F05E-A590-8A3B-EE84C999A8A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8" t="28709" r="6987" b="13209"/>
          <a:stretch>
            <a:fillRect/>
          </a:stretch>
        </p:blipFill>
        <p:spPr>
          <a:xfrm>
            <a:off x="0" y="4736624"/>
            <a:ext cx="12192000" cy="198358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90B4AA7-4B61-2226-2F39-40F47D3EC48B}"/>
              </a:ext>
            </a:extLst>
          </p:cNvPr>
          <p:cNvSpPr txBox="1"/>
          <p:nvPr/>
        </p:nvSpPr>
        <p:spPr>
          <a:xfrm>
            <a:off x="1208314" y="3429000"/>
            <a:ext cx="2982686" cy="729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B4AF474-8843-3B96-EE21-C41127E8D2C6}"/>
              </a:ext>
            </a:extLst>
          </p:cNvPr>
          <p:cNvSpPr/>
          <p:nvPr/>
        </p:nvSpPr>
        <p:spPr>
          <a:xfrm>
            <a:off x="994683" y="2441759"/>
            <a:ext cx="3129643" cy="2585323"/>
          </a:xfrm>
          <a:prstGeom prst="rect">
            <a:avLst/>
          </a:prstGeom>
          <a:solidFill>
            <a:schemeClr val="bg1"/>
          </a:solidFill>
          <a:ln>
            <a:solidFill>
              <a:srgbClr val="8DD7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s</a:t>
            </a:r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FBD3558-AA14-E920-3CBC-EDF7752C863F}"/>
              </a:ext>
            </a:extLst>
          </p:cNvPr>
          <p:cNvSpPr txBox="1"/>
          <p:nvPr/>
        </p:nvSpPr>
        <p:spPr>
          <a:xfrm>
            <a:off x="1574347" y="2459951"/>
            <a:ext cx="1970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/>
              <a:t>试点验证阶段</a:t>
            </a:r>
            <a:endParaRPr lang="en-US" altLang="zh-CN" b="1"/>
          </a:p>
          <a:p>
            <a:pPr algn="ctr"/>
            <a:r>
              <a:rPr lang="zh-CN" altLang="en-US" b="1"/>
              <a:t>（</a:t>
            </a:r>
            <a:r>
              <a:rPr lang="en-US" altLang="zh-CN" b="1"/>
              <a:t>0-12</a:t>
            </a:r>
            <a:r>
              <a:rPr lang="zh-CN" altLang="en-US" b="1"/>
              <a:t>个月）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BAA66B0-0895-E49F-222D-F74ECE798C28}"/>
              </a:ext>
            </a:extLst>
          </p:cNvPr>
          <p:cNvSpPr/>
          <p:nvPr/>
        </p:nvSpPr>
        <p:spPr>
          <a:xfrm>
            <a:off x="4440693" y="2239098"/>
            <a:ext cx="3124201" cy="2585323"/>
          </a:xfrm>
          <a:prstGeom prst="rect">
            <a:avLst/>
          </a:prstGeom>
          <a:solidFill>
            <a:schemeClr val="bg1"/>
          </a:solidFill>
          <a:ln>
            <a:solidFill>
              <a:srgbClr val="8DD7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s</a:t>
            </a:r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9E60B1F-5715-9558-54D6-E1DC64FBC728}"/>
              </a:ext>
            </a:extLst>
          </p:cNvPr>
          <p:cNvSpPr/>
          <p:nvPr/>
        </p:nvSpPr>
        <p:spPr>
          <a:xfrm>
            <a:off x="7881261" y="1917408"/>
            <a:ext cx="3124201" cy="2802612"/>
          </a:xfrm>
          <a:prstGeom prst="rect">
            <a:avLst/>
          </a:prstGeom>
          <a:solidFill>
            <a:schemeClr val="bg1"/>
          </a:solidFill>
          <a:ln>
            <a:solidFill>
              <a:srgbClr val="8DD7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s</a:t>
            </a:r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2733535-BFA5-F186-9947-19A10625E918}"/>
              </a:ext>
            </a:extLst>
          </p:cNvPr>
          <p:cNvSpPr txBox="1"/>
          <p:nvPr/>
        </p:nvSpPr>
        <p:spPr>
          <a:xfrm>
            <a:off x="1184183" y="3158538"/>
            <a:ext cx="27506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• </a:t>
            </a:r>
            <a:r>
              <a:rPr lang="zh-CN" altLang="en-US"/>
              <a:t>聚焦钢铁</a:t>
            </a:r>
            <a:r>
              <a:rPr lang="en-US" altLang="zh-CN"/>
              <a:t>/</a:t>
            </a:r>
            <a:r>
              <a:rPr lang="zh-CN" altLang="en-US"/>
              <a:t>建材单一行业</a:t>
            </a:r>
          </a:p>
          <a:p>
            <a:r>
              <a:rPr lang="en-US" altLang="zh-CN"/>
              <a:t>• </a:t>
            </a:r>
            <a:r>
              <a:rPr lang="zh-CN" altLang="en-US"/>
              <a:t>完成</a:t>
            </a:r>
            <a:r>
              <a:rPr lang="en-US" altLang="zh-CN"/>
              <a:t>30‑50</a:t>
            </a:r>
            <a:r>
              <a:rPr lang="zh-CN" altLang="en-US"/>
              <a:t>家企业转型画像建模</a:t>
            </a:r>
          </a:p>
          <a:p>
            <a:r>
              <a:rPr lang="en-US" altLang="zh-CN"/>
              <a:t>• </a:t>
            </a:r>
            <a:r>
              <a:rPr lang="zh-CN" altLang="en-US"/>
              <a:t>基于历史数据完成模型有效性验证，打通完整业务链路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61CE0D4-FDC5-C4C2-8DA8-E7DDE643DD73}"/>
              </a:ext>
            </a:extLst>
          </p:cNvPr>
          <p:cNvSpPr txBox="1"/>
          <p:nvPr/>
        </p:nvSpPr>
        <p:spPr>
          <a:xfrm>
            <a:off x="4968012" y="2287569"/>
            <a:ext cx="1970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/>
              <a:t>区域复制阶段</a:t>
            </a:r>
            <a:endParaRPr lang="en-US" altLang="zh-CN" b="1"/>
          </a:p>
          <a:p>
            <a:pPr algn="ctr"/>
            <a:r>
              <a:rPr lang="zh-CN" altLang="en-US" b="1"/>
              <a:t>（</a:t>
            </a:r>
            <a:r>
              <a:rPr lang="en-US" altLang="zh-CN" b="1"/>
              <a:t>12-24</a:t>
            </a:r>
            <a:r>
              <a:rPr lang="zh-CN" altLang="en-US" b="1"/>
              <a:t>个月）</a:t>
            </a:r>
          </a:p>
        </p:txBody>
      </p:sp>
      <p:sp>
        <p:nvSpPr>
          <p:cNvPr id="28" name="文本框 19">
            <a:extLst>
              <a:ext uri="{FF2B5EF4-FFF2-40B4-BE49-F238E27FC236}">
                <a16:creationId xmlns:a16="http://schemas.microsoft.com/office/drawing/2014/main" id="{62733535-BFA5-F186-9947-19A10625E918}"/>
              </a:ext>
            </a:extLst>
          </p:cNvPr>
          <p:cNvSpPr txBox="1"/>
          <p:nvPr/>
        </p:nvSpPr>
        <p:spPr>
          <a:xfrm>
            <a:off x="4636403" y="2965694"/>
            <a:ext cx="27506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• </a:t>
            </a:r>
            <a:r>
              <a:rPr lang="zh-CN" altLang="en-US"/>
              <a:t>输出行业数据字典、基准与风控模板</a:t>
            </a:r>
          </a:p>
          <a:p>
            <a:r>
              <a:rPr lang="en-US" altLang="zh-CN"/>
              <a:t>• </a:t>
            </a:r>
            <a:r>
              <a:rPr lang="zh-CN" altLang="en-US"/>
              <a:t>落地</a:t>
            </a:r>
            <a:r>
              <a:rPr lang="en-US" altLang="zh-CN"/>
              <a:t>5‑10</a:t>
            </a:r>
            <a:r>
              <a:rPr lang="zh-CN" altLang="en-US"/>
              <a:t>个产业园区，上线分行级转型驾驶舱</a:t>
            </a:r>
          </a:p>
          <a:p>
            <a:r>
              <a:rPr lang="en-US" altLang="zh-CN"/>
              <a:t>• </a:t>
            </a:r>
            <a:r>
              <a:rPr lang="zh-CN" altLang="en-US"/>
              <a:t>将评估能力嵌入现有信贷流程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4C05E19-D959-0076-59B0-B202A5D1429A}"/>
              </a:ext>
            </a:extLst>
          </p:cNvPr>
          <p:cNvSpPr txBox="1"/>
          <p:nvPr/>
        </p:nvSpPr>
        <p:spPr>
          <a:xfrm>
            <a:off x="8458204" y="1947799"/>
            <a:ext cx="1970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/>
              <a:t>标准化深化阶段</a:t>
            </a:r>
            <a:endParaRPr lang="en-US" altLang="zh-CN" b="1"/>
          </a:p>
          <a:p>
            <a:pPr algn="ctr"/>
            <a:r>
              <a:rPr lang="zh-CN" altLang="en-US" b="1"/>
              <a:t>（</a:t>
            </a:r>
            <a:r>
              <a:rPr lang="en-US" altLang="zh-CN" b="1"/>
              <a:t>24-36</a:t>
            </a:r>
            <a:r>
              <a:rPr lang="zh-CN" altLang="en-US" b="1"/>
              <a:t>个月）</a:t>
            </a:r>
          </a:p>
        </p:txBody>
      </p:sp>
      <p:sp>
        <p:nvSpPr>
          <p:cNvPr id="32" name="文本框 19">
            <a:extLst>
              <a:ext uri="{FF2B5EF4-FFF2-40B4-BE49-F238E27FC236}">
                <a16:creationId xmlns:a16="http://schemas.microsoft.com/office/drawing/2014/main" id="{6B4E5A2F-565E-72C6-ABA6-347D8B465D51}"/>
              </a:ext>
            </a:extLst>
          </p:cNvPr>
          <p:cNvSpPr txBox="1"/>
          <p:nvPr/>
        </p:nvSpPr>
        <p:spPr>
          <a:xfrm>
            <a:off x="7956522" y="2610734"/>
            <a:ext cx="305040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• </a:t>
            </a:r>
            <a:r>
              <a:rPr lang="zh-CN" altLang="en-US"/>
              <a:t>构建钢铁、建材、化工多行业模板与风险情景库</a:t>
            </a:r>
          </a:p>
          <a:p>
            <a:r>
              <a:rPr lang="en-US" altLang="zh-CN"/>
              <a:t>• </a:t>
            </a:r>
            <a:r>
              <a:rPr lang="zh-CN" altLang="en-US"/>
              <a:t>支撑分行园区信贷组合风险管理</a:t>
            </a:r>
          </a:p>
          <a:p>
            <a:r>
              <a:rPr lang="en-US" altLang="zh-CN"/>
              <a:t>• </a:t>
            </a:r>
            <a:r>
              <a:rPr lang="zh-CN" altLang="en-US"/>
              <a:t>联动</a:t>
            </a:r>
            <a:r>
              <a:rPr lang="en-US" altLang="zh-CN"/>
              <a:t>ESG</a:t>
            </a:r>
            <a:r>
              <a:rPr lang="zh-CN" altLang="en-US"/>
              <a:t>、租赁等业务，形成“咨询</a:t>
            </a:r>
            <a:r>
              <a:rPr lang="en-US" altLang="zh-CN"/>
              <a:t>+</a:t>
            </a:r>
            <a:r>
              <a:rPr lang="zh-CN" altLang="en-US"/>
              <a:t>融资</a:t>
            </a:r>
            <a:r>
              <a:rPr lang="en-US" altLang="zh-CN"/>
              <a:t>+</a:t>
            </a:r>
            <a:r>
              <a:rPr lang="zh-CN" altLang="en-US"/>
              <a:t>风控”一体化服务</a:t>
            </a:r>
          </a:p>
        </p:txBody>
      </p:sp>
    </p:spTree>
    <p:extLst>
      <p:ext uri="{BB962C8B-B14F-4D97-AF65-F5344CB8AC3E}">
        <p14:creationId xmlns:p14="http://schemas.microsoft.com/office/powerpoint/2010/main" val="24256014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98197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4DEDAFCD27445B8C7E8D6285B349EEB2B13006D50D010FC2810D93038F16A2B8" val="[{&quot;GradientColorId&quot;:&quot;&quot;,&quot;IsFree&quot;:true,&quot;IsGradient&quot;:false,&quot;ImagePath&quot;:&quot;&quot;,&quot;GradientColor&quot;:null,&quot;SimpleColor&quot;:&quot;#104862&quot;},{&quot;GradientColorId&quot;:&quot;&quot;,&quot;IsFree&quot;:true,&quot;IsGradient&quot;:false,&quot;ImagePath&quot;:&quot;&quot;,&quot;GradientColor&quot;:null,&quot;SimpleColor&quot;:&quot;#084F6A&quot;},{&quot;GradientColorId&quot;:&quot;&quot;,&quot;IsFree&quot;:true,&quot;IsGradient&quot;:false,&quot;ImagePath&quot;:&quot;&quot;,&quot;GradientColor&quot;:null,&quot;SimpleColor&quot;:&quot;#156082&quot;},{&quot;GradientColorId&quot;:&quot;&quot;,&quot;IsFree&quot;:true,&quot;IsGradient&quot;:false,&quot;ImagePath&quot;:&quot;&quot;,&quot;GradientColor&quot;:null,&quot;SimpleColor&quot;:&quot;#FFFFFF&quot;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21560"/>
  <p:tag name="OP_SCP_COMPONENT_INFO" val="{&quot;title&quot;:&quot;商务风2项蓝色步骤式流程图&quot;,&quot;description&quot;:&quot;商务风2项蓝色步骤式流程图&quot;,&quot;keywords&quot;:[&quot;商务风&quot;,&quot;2项&quot;,&quot;蓝色&quot;,&quot;步骤式&quot;,&quot;流程图&quot;],&quot;labels&quot;:[]}"/>
  <p:tag name="OP_SCP_GROUP_ID" val="f1c37fda-815b-5397-fe7e-e4034bc2b5fc"/>
  <p:tag name="OP_SCP_ITEM_COUNT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击此处添加文本，单击此处添加文本。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击此处添加文本，单击此处添加文本。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击此处添加文本，单击此处添加文本。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2"/>
  <p:tag name="OP_SCP_DEFAULT_TEXT" val="PART-0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2"/>
  <p:tag name="OP_SCP_DEFAULT_TEXT" val="单击此处添加文本，单击此处添加文本。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1"/>
  <p:tag name="OP_SCP_DEFAULT_TEXT" val="PART-0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击此处添加文本，单击此处添加文本。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15164"/>
  <p:tag name="OP_SCP_COMPONENT_INFO" val="{&quot;title&quot;:&quot;扁平3项思维导图总分&quot;,&quot;description&quot;:&quot;扁平3项思维导图总分&quot;,&quot;keywords&quot;:[&quot;扁平&quot;,&quot;3项&quot;,&quot;总分&quot;],&quot;labels&quot;:[]}"/>
  <p:tag name="OP_SCP_GROUP_ID" val="2ee290e8-bb6f-d809-1ec7-cdec0fef2965"/>
  <p:tag name="OP_SCP_ITEM_COUNT" val="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3"/>
  <p:tag name="OP_SCP_DEFAULT_TEXT" val="添加标题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3"/>
  <p:tag name="OP_SCP_DEFAULT_TEXT" val="单击此处添加文本，单击此处添加文本，单击此处添加文本，单击此处添加文本，单击此处添加文本，单击此处添加文本。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2"/>
  <p:tag name="OP_SCP_DEFAULT_TEXT" val="添加标题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，单击此处添加文本，单击此处添加文本，单击此处添加文本。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添加标题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，单击此处添加文本，单击此处添加文本，单击此处添加文本。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0"/>
  <p:tag name="OP_SCP_DEFAULT_TEXT" val="添加&#10;标题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1317</TotalTime>
  <Words>3668</Words>
  <Application>Microsoft Office PowerPoint</Application>
  <PresentationFormat>宽屏</PresentationFormat>
  <Paragraphs>304</Paragraphs>
  <Slides>27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4" baseType="lpstr">
      <vt:lpstr>Noto Serif CJK SC</vt:lpstr>
      <vt:lpstr>等线</vt:lpstr>
      <vt:lpstr>等线 Light</vt:lpstr>
      <vt:lpstr>仿宋</vt:lpstr>
      <vt:lpstr>华文中宋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8618042228679</dc:creator>
  <cp:lastModifiedBy>8618042228679</cp:lastModifiedBy>
  <cp:revision>4</cp:revision>
  <dcterms:created xsi:type="dcterms:W3CDTF">2026-08-15T06:16:37Z</dcterms:created>
  <dcterms:modified xsi:type="dcterms:W3CDTF">2026-08-16T10:47:00Z</dcterms:modified>
</cp:coreProperties>
</file>